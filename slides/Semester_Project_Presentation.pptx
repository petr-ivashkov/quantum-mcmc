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3"/>
  </p:notesMasterIdLst>
  <p:sldIdLst>
    <p:sldId id="256" r:id="rId2"/>
    <p:sldId id="268" r:id="rId3"/>
    <p:sldId id="269" r:id="rId4"/>
    <p:sldId id="270" r:id="rId5"/>
    <p:sldId id="264" r:id="rId6"/>
    <p:sldId id="262" r:id="rId7"/>
    <p:sldId id="261" r:id="rId8"/>
    <p:sldId id="272" r:id="rId9"/>
    <p:sldId id="260" r:id="rId10"/>
    <p:sldId id="263" r:id="rId11"/>
    <p:sldId id="267" r:id="rId12"/>
    <p:sldId id="271" r:id="rId13"/>
    <p:sldId id="274" r:id="rId14"/>
    <p:sldId id="276" r:id="rId15"/>
    <p:sldId id="277" r:id="rId16"/>
    <p:sldId id="279" r:id="rId17"/>
    <p:sldId id="278" r:id="rId18"/>
    <p:sldId id="280" r:id="rId19"/>
    <p:sldId id="281" r:id="rId20"/>
    <p:sldId id="275" r:id="rId21"/>
    <p:sldId id="28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8EB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3300" autoAdjust="0"/>
  </p:normalViewPr>
  <p:slideViewPr>
    <p:cSldViewPr snapToGrid="0">
      <p:cViewPr varScale="1">
        <p:scale>
          <a:sx n="76" d="100"/>
          <a:sy n="76" d="100"/>
        </p:scale>
        <p:origin x="859" y="58"/>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3811-B0C5-4A1C-9B8D-044BD7A69646}" type="datetimeFigureOut">
              <a:rPr lang="en-US" smtClean="0"/>
              <a:t>7/16/2024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BF8B27-2346-495E-8BA4-9DD999C08139}" type="slidenum">
              <a:rPr lang="en-US" smtClean="0"/>
              <a:t>‹#›</a:t>
            </a:fld>
            <a:endParaRPr lang="en-US"/>
          </a:p>
        </p:txBody>
      </p:sp>
    </p:spTree>
    <p:extLst>
      <p:ext uri="{BB962C8B-B14F-4D97-AF65-F5344CB8AC3E}">
        <p14:creationId xmlns:p14="http://schemas.microsoft.com/office/powerpoint/2010/main" val="1822912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and motivation</a:t>
            </a:r>
          </a:p>
        </p:txBody>
      </p:sp>
      <p:sp>
        <p:nvSpPr>
          <p:cNvPr id="4" name="Slide Number Placeholder 3"/>
          <p:cNvSpPr>
            <a:spLocks noGrp="1"/>
          </p:cNvSpPr>
          <p:nvPr>
            <p:ph type="sldNum" sz="quarter" idx="5"/>
          </p:nvPr>
        </p:nvSpPr>
        <p:spPr/>
        <p:txBody>
          <a:bodyPr/>
          <a:lstStyle/>
          <a:p>
            <a:fld id="{F3BF8B27-2346-495E-8BA4-9DD999C08139}" type="slidenum">
              <a:rPr lang="en-US" smtClean="0"/>
              <a:t>1</a:t>
            </a:fld>
            <a:endParaRPr lang="en-US"/>
          </a:p>
        </p:txBody>
      </p:sp>
    </p:spTree>
    <p:extLst>
      <p:ext uri="{BB962C8B-B14F-4D97-AF65-F5344CB8AC3E}">
        <p14:creationId xmlns:p14="http://schemas.microsoft.com/office/powerpoint/2010/main" val="4011904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for today’s talk is the following. We will start by introducing some basics about Markov Chain Monte Carlo methods. Then we will understand what is this quantum-enhanced method from the recent Nature paper and move on to analyzing it a bit more closely. We will of course try to improve it using some alternative methods. And conclude with a big picture view on the problem and the path forward.</a:t>
            </a:r>
          </a:p>
          <a:p>
            <a:endParaRPr lang="en-US" dirty="0"/>
          </a:p>
          <a:p>
            <a:r>
              <a:rPr lang="en-US" dirty="0"/>
              <a:t>The talk will take about N minutes, we should have enough time for questions hopefully. I am happy to take questions in the middle of the talk. So feel free to interrupt at any point.</a:t>
            </a:r>
          </a:p>
        </p:txBody>
      </p:sp>
      <p:sp>
        <p:nvSpPr>
          <p:cNvPr id="4" name="Slide Number Placeholder 3"/>
          <p:cNvSpPr>
            <a:spLocks noGrp="1"/>
          </p:cNvSpPr>
          <p:nvPr>
            <p:ph type="sldNum" sz="quarter" idx="5"/>
          </p:nvPr>
        </p:nvSpPr>
        <p:spPr/>
        <p:txBody>
          <a:bodyPr/>
          <a:lstStyle/>
          <a:p>
            <a:fld id="{F3BF8B27-2346-495E-8BA4-9DD999C08139}" type="slidenum">
              <a:rPr lang="en-US" smtClean="0"/>
              <a:t>2</a:t>
            </a:fld>
            <a:endParaRPr lang="en-US"/>
          </a:p>
        </p:txBody>
      </p:sp>
    </p:spTree>
    <p:extLst>
      <p:ext uri="{BB962C8B-B14F-4D97-AF65-F5344CB8AC3E}">
        <p14:creationId xmlns:p14="http://schemas.microsoft.com/office/powerpoint/2010/main" val="3646311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Sampling from a classical distribution is ubiquitous in scientific computing and has lots of applications in other areas from statistical physics to machine learning and optimization. The problem is to draw samples according to some desired probability distribution. We will focus on Boltzmann distributions of classical Hamiltonians. In particular, we consider the classical spin glass. The configuration space consists of n classical spins, each being either plus or minus one. Imagine you have n sites, each connected to another. The energy is specified by a set of random couplings between every two spins. Additionally, every site has a random field on it, which gives the total Hamiltonian. System is highly frustrated because it is impossible to satisfy all the couplings simultaneously. It has many local minima and a typical landscape looks as follows. The Boltzmann distribution is concentrated on few local minima. We want to draw samples mainly from the </a:t>
            </a:r>
            <a:r>
              <a:rPr lang="en-US" dirty="0" err="1"/>
              <a:t>regious</a:t>
            </a:r>
            <a:r>
              <a:rPr lang="en-US" dirty="0"/>
              <a:t> with high probability.</a:t>
            </a:r>
            <a:br>
              <a:rPr lang="en-US" dirty="0"/>
            </a:br>
            <a:br>
              <a:rPr lang="en-US" dirty="0"/>
            </a:br>
            <a:r>
              <a:rPr lang="en-US" dirty="0"/>
              <a:t>The problem is, we cannot evaluate the Boltzmann distribution directly. Intractable normalization constant Z. In the language of statistical physics called partition function. The sum runs over exponentially large configuration space and is not practical to compute.</a:t>
            </a:r>
          </a:p>
        </p:txBody>
      </p:sp>
      <p:sp>
        <p:nvSpPr>
          <p:cNvPr id="4" name="Slide Number Placeholder 3"/>
          <p:cNvSpPr>
            <a:spLocks noGrp="1"/>
          </p:cNvSpPr>
          <p:nvPr>
            <p:ph type="sldNum" sz="quarter" idx="5"/>
          </p:nvPr>
        </p:nvSpPr>
        <p:spPr/>
        <p:txBody>
          <a:bodyPr/>
          <a:lstStyle/>
          <a:p>
            <a:fld id="{F3BF8B27-2346-495E-8BA4-9DD999C08139}" type="slidenum">
              <a:rPr lang="en-US" smtClean="0"/>
              <a:t>3</a:t>
            </a:fld>
            <a:endParaRPr lang="en-US"/>
          </a:p>
        </p:txBody>
      </p:sp>
    </p:spTree>
    <p:extLst>
      <p:ext uri="{BB962C8B-B14F-4D97-AF65-F5344CB8AC3E}">
        <p14:creationId xmlns:p14="http://schemas.microsoft.com/office/powerpoint/2010/main" val="3992108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commonly used method to sample from distributions with intractable normalization constant is Markov Chain Monte Carlo. In a nutshell, you construct a chain of transitions between your classical configuration, where starting from one state the next state is proposed according to some rule and accepted according to another rule. If you construct your chain correctly and repeat these transitions long enough, the probability to end up with a given state will be the desired probability distribution. It is called stationary distribution. Every well-behaved Markov Chain has such a stationary distribution.</a:t>
            </a:r>
          </a:p>
          <a:p>
            <a:endParaRPr lang="en-US" dirty="0"/>
          </a:p>
          <a:p>
            <a:r>
              <a:rPr lang="en-US" dirty="0"/>
              <a:t>Every transition is a two step process. The first step is heuristic: you propose a new state according to Q which depends on current and new state. This is where you can play around and come up with smart proposal strategies which eventually determine how fast you Markov chain converges to its stationary distribution. The second step is usually predetermined. To ensure the chain converges to the target distribution new states must be accepted according to this probability: MH. Not the only choice but the most common one. It explicitly depends on the ratio of pi so the Z cancels out.</a:t>
            </a:r>
          </a:p>
          <a:p>
            <a:endParaRPr lang="en-US" dirty="0"/>
          </a:p>
          <a:p>
            <a:r>
              <a:rPr lang="en-US" dirty="0"/>
              <a:t>Object of interest which completely describes the chain transition matrix. Probability to go from s0 to s. The stationary distribution is the eigenvector of this matrix and has eigenvalue 1. What matters is how fast your chain converges to its target distribution. How long you need to wait before you can start drawing samples. Mixing time tightly related to the spectral gap of the P. Applying P to s gives you a probability distribution. Large gap is good, small gap is bad. Remark: diagonalizing is intractable. Next, we will see how to choose a good proposal strategy. Any questions at this point?</a:t>
            </a:r>
          </a:p>
        </p:txBody>
      </p:sp>
      <p:sp>
        <p:nvSpPr>
          <p:cNvPr id="4" name="Slide Number Placeholder 3"/>
          <p:cNvSpPr>
            <a:spLocks noGrp="1"/>
          </p:cNvSpPr>
          <p:nvPr>
            <p:ph type="sldNum" sz="quarter" idx="5"/>
          </p:nvPr>
        </p:nvSpPr>
        <p:spPr/>
        <p:txBody>
          <a:bodyPr/>
          <a:lstStyle/>
          <a:p>
            <a:fld id="{F3BF8B27-2346-495E-8BA4-9DD999C08139}" type="slidenum">
              <a:rPr lang="en-US" smtClean="0"/>
              <a:t>4</a:t>
            </a:fld>
            <a:endParaRPr lang="en-US"/>
          </a:p>
        </p:txBody>
      </p:sp>
    </p:spTree>
    <p:extLst>
      <p:ext uri="{BB962C8B-B14F-4D97-AF65-F5344CB8AC3E}">
        <p14:creationId xmlns:p14="http://schemas.microsoft.com/office/powerpoint/2010/main" val="4234555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is called quantum proposal but first lets look at two common classical strategies. First is a local proposal strategy. You just randomly flip one state of the current configuration. Slow at exploring energy landscape although many steps are likely accepted because you are not making big changes in energy. </a:t>
            </a:r>
          </a:p>
          <a:p>
            <a:endParaRPr lang="en-US" dirty="0"/>
          </a:p>
          <a:p>
            <a:r>
              <a:rPr lang="en-US" dirty="0"/>
              <a:t>Second one is what I call random here. You just pick the new configuration uniformly at random, completely uninformed by the current state. Now this strategy surely explores the energy landscape well but many steps will be rejected because distribution is concentrated around few local minima and probability to land in one of those is exponentially small.</a:t>
            </a:r>
          </a:p>
          <a:p>
            <a:endParaRPr lang="en-US" dirty="0"/>
          </a:p>
          <a:p>
            <a:r>
              <a:rPr lang="en-US" dirty="0"/>
              <a:t>The essence of the recent Nature paper is it propose new configurations using a quantum step. Concretely, you start with a classical configuration s0 and encode it as computational basis state of an n-qubit system. For example, spin +1 is mapped to 0 and spin -1 is mapped to state 1. Then you evolve this state under some unitary U, and measure in the computational basis. The Born rule gives you the probability to end up in the classical state s. That’s it, this is your proposal strategy.</a:t>
            </a:r>
          </a:p>
          <a:p>
            <a:endParaRPr lang="en-US" dirty="0"/>
          </a:p>
          <a:p>
            <a:r>
              <a:rPr lang="en-US" dirty="0"/>
              <a:t>Now, if you choose a symmetric U, this will make sure your proposal probability is symmetric and the normalization cancels out. This way do don’t have to evaluate matrix elements of your high dimensional unitary which would of course be intractable. Then, you acceptance looks like this: all the downhill move are accepted and the uphill moves are accepted according to the Boltzmann exponent of the energy difference. </a:t>
            </a:r>
          </a:p>
          <a:p>
            <a:endParaRPr lang="en-US" dirty="0"/>
          </a:p>
          <a:p>
            <a:r>
              <a:rPr lang="en-US" dirty="0"/>
              <a:t>So far we still haven’t said anything about the form of U, expect that it is symmetric. In the paper, the authors consider unitary evolution under a time-independent Hamiltonian which consists of the classical spin glass Hamiltonian and a mixing term. They choose this sum of X terms. Worth noting that this Hamiltonian now corresponds to the so called quantum spin glass model. Now every site has an additional transverse field in the X direction. The strength of the field is controlled by the gamma parameter. This gamma will be very important that why it is in red. The proposal strategy is problem informed. </a:t>
            </a:r>
          </a:p>
          <a:p>
            <a:endParaRPr lang="en-US" dirty="0"/>
          </a:p>
          <a:p>
            <a:r>
              <a:rPr lang="en-US" dirty="0"/>
              <a:t>What does this give us. The numerical results comparing the three strategies are on the plot. Describe. Delta decays exponentially with the system size. What matters is the exponent k, the slope of the logarithmic plot. Small k is good, large k is bad. Ratio of the exponents is the polynomial speedup. Quantum outperforms both local strategies. This is NISQ friendly. Questions. </a:t>
            </a:r>
          </a:p>
        </p:txBody>
      </p:sp>
      <p:sp>
        <p:nvSpPr>
          <p:cNvPr id="4" name="Slide Number Placeholder 3"/>
          <p:cNvSpPr>
            <a:spLocks noGrp="1"/>
          </p:cNvSpPr>
          <p:nvPr>
            <p:ph type="sldNum" sz="quarter" idx="5"/>
          </p:nvPr>
        </p:nvSpPr>
        <p:spPr/>
        <p:txBody>
          <a:bodyPr/>
          <a:lstStyle/>
          <a:p>
            <a:fld id="{F3BF8B27-2346-495E-8BA4-9DD999C08139}" type="slidenum">
              <a:rPr lang="en-US" smtClean="0"/>
              <a:t>5</a:t>
            </a:fld>
            <a:endParaRPr lang="en-US"/>
          </a:p>
        </p:txBody>
      </p:sp>
    </p:spTree>
    <p:extLst>
      <p:ext uri="{BB962C8B-B14F-4D97-AF65-F5344CB8AC3E}">
        <p14:creationId xmlns:p14="http://schemas.microsoft.com/office/powerpoint/2010/main" val="1038386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you choose gamma and t. Brute force: do a large grid search. Describe the plot. Hot regions are high spectral gap = good. Overall looks quite complex but we can understand some regions of it well. High </a:t>
            </a:r>
            <a:r>
              <a:rPr lang="en-US" dirty="0" err="1"/>
              <a:t>gamm</a:t>
            </a:r>
            <a:r>
              <a:rPr lang="en-US" dirty="0"/>
              <a:t>, H = </a:t>
            </a:r>
            <a:r>
              <a:rPr lang="en-US" dirty="0" err="1"/>
              <a:t>Hmix</a:t>
            </a:r>
            <a:r>
              <a:rPr lang="en-US" dirty="0"/>
              <a:t> = just rotation around the x-axis. Explain the oscillatory behavior along the time-axis. On the other hand, for small gamma we can apply PT (mixing term is a small perturbation). The, the transition probability is proportional to the matrix element of mixing Hamiltonian. Since it is just a sum of X terms, non-zero transitions only between states that differ by a single spin flip. Essentially, local strategy.</a:t>
            </a:r>
          </a:p>
          <a:p>
            <a:endParaRPr lang="en-US" dirty="0"/>
          </a:p>
          <a:p>
            <a:r>
              <a:rPr lang="en-US" dirty="0"/>
              <a:t>Clearly, interesting stuff is happening in the middle. Pronounced hot region around gamma 0.4-0.5. Make it more obvious by plotting the average along the time-axis on the left. Delta peak across multiple system sizes around 0.45. This the regime where the strengths of the two terms of the Hamiltonian are approximately equal. We may suspect there is phase transition which gives rise to the critical behavior. </a:t>
            </a:r>
          </a:p>
          <a:p>
            <a:endParaRPr lang="en-US" dirty="0"/>
          </a:p>
          <a:p>
            <a:endParaRPr lang="en-US" dirty="0"/>
          </a:p>
        </p:txBody>
      </p:sp>
      <p:sp>
        <p:nvSpPr>
          <p:cNvPr id="4" name="Slide Number Placeholder 3"/>
          <p:cNvSpPr>
            <a:spLocks noGrp="1"/>
          </p:cNvSpPr>
          <p:nvPr>
            <p:ph type="sldNum" sz="quarter" idx="5"/>
          </p:nvPr>
        </p:nvSpPr>
        <p:spPr/>
        <p:txBody>
          <a:bodyPr/>
          <a:lstStyle/>
          <a:p>
            <a:fld id="{F3BF8B27-2346-495E-8BA4-9DD999C08139}" type="slidenum">
              <a:rPr lang="en-US" smtClean="0"/>
              <a:t>6</a:t>
            </a:fld>
            <a:endParaRPr lang="en-US"/>
          </a:p>
        </p:txBody>
      </p:sp>
    </p:spTree>
    <p:extLst>
      <p:ext uri="{BB962C8B-B14F-4D97-AF65-F5344CB8AC3E}">
        <p14:creationId xmlns:p14="http://schemas.microsoft.com/office/powerpoint/2010/main" val="34455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indeed, computing the phase diagram of our Hamiltonian we find a phase transition around gamma 0.5. Left plot = phase diagram, temperature and gamma, quantum and thermal fluctuations. We are interested in quantum. The order parameter is the one for classical spin-glass. The hot red region is a highly localized spin glass phase, frozen in one configuration. Blue is the paramagnetic phase where fluctuations dominate. </a:t>
            </a:r>
          </a:p>
          <a:p>
            <a:endParaRPr lang="en-US" dirty="0"/>
          </a:p>
          <a:p>
            <a:r>
              <a:rPr lang="en-US" dirty="0"/>
              <a:t>We are dealing with finite-size systems, so to locate the exact critical gamma value we use the so called Binder Cumulant. It is defined in terms of the moments of the order parameter and characterized the distribution of the order parameter. Importantly, it has invariant value at the critical point, independent of system size. We exploit it by plotting multiple curves and finding the intersection point on the left plot around 0.55.</a:t>
            </a:r>
          </a:p>
        </p:txBody>
      </p:sp>
      <p:sp>
        <p:nvSpPr>
          <p:cNvPr id="4" name="Slide Number Placeholder 3"/>
          <p:cNvSpPr>
            <a:spLocks noGrp="1"/>
          </p:cNvSpPr>
          <p:nvPr>
            <p:ph type="sldNum" sz="quarter" idx="5"/>
          </p:nvPr>
        </p:nvSpPr>
        <p:spPr/>
        <p:txBody>
          <a:bodyPr/>
          <a:lstStyle/>
          <a:p>
            <a:fld id="{F3BF8B27-2346-495E-8BA4-9DD999C08139}" type="slidenum">
              <a:rPr lang="en-US" smtClean="0"/>
              <a:t>7</a:t>
            </a:fld>
            <a:endParaRPr lang="en-US"/>
          </a:p>
        </p:txBody>
      </p:sp>
    </p:spTree>
    <p:extLst>
      <p:ext uri="{BB962C8B-B14F-4D97-AF65-F5344CB8AC3E}">
        <p14:creationId xmlns:p14="http://schemas.microsoft.com/office/powerpoint/2010/main" val="946041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randomized strategy takes random gamma. We find that setting gamma to a fixed value at 0.45, slightly below the critical value can match but not really outperform the randomized strategy. Setting any other fixed gamma value results in lower performance. The exact connection is still not resolved. We will get back to it in the end.</a:t>
            </a:r>
          </a:p>
        </p:txBody>
      </p:sp>
      <p:sp>
        <p:nvSpPr>
          <p:cNvPr id="4" name="Slide Number Placeholder 3"/>
          <p:cNvSpPr>
            <a:spLocks noGrp="1"/>
          </p:cNvSpPr>
          <p:nvPr>
            <p:ph type="sldNum" sz="quarter" idx="5"/>
          </p:nvPr>
        </p:nvSpPr>
        <p:spPr/>
        <p:txBody>
          <a:bodyPr/>
          <a:lstStyle/>
          <a:p>
            <a:fld id="{F3BF8B27-2346-495E-8BA4-9DD999C08139}" type="slidenum">
              <a:rPr lang="en-US" smtClean="0"/>
              <a:t>8</a:t>
            </a:fld>
            <a:endParaRPr lang="en-US"/>
          </a:p>
        </p:txBody>
      </p:sp>
    </p:spTree>
    <p:extLst>
      <p:ext uri="{BB962C8B-B14F-4D97-AF65-F5344CB8AC3E}">
        <p14:creationId xmlns:p14="http://schemas.microsoft.com/office/powerpoint/2010/main" val="660141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if we can beat. What if we consider evolution under a time-dependent Hamiltonian. Let’s introduce time dependence by making gamma a function of time. To keep the symmetry, the gamma must be symmetric around the mid-point of evolution but no other constraints. Obvious question, what is a optimal gamma. Hand-off uniformed approach by letting a classical optimizer fund a good schedule. We parametrize the gamma(t) by a few discrete points and interpolate using a polynomial between those points. This give a smooth schedule. Figure of merit is the spectral gap (only feasible for small systems).</a:t>
            </a:r>
          </a:p>
          <a:p>
            <a:endParaRPr lang="en-US" dirty="0"/>
          </a:p>
          <a:p>
            <a:r>
              <a:rPr lang="en-US" dirty="0"/>
              <a:t>Bayesian optimization approach which is good for costly. The plot show 6 different system sizes, from 4 to 9. Remarkably, optimizer finds a consistent schedule for 5,6, and 7 qubit-systems, with two strong peaks in gamma. For 8 and 9 qubits the optimized schedule also looks similar and resembles the time-independent evolution. For time independent, gamma would just the a straight horizontal line.</a:t>
            </a:r>
          </a:p>
          <a:p>
            <a:endParaRPr lang="en-US" dirty="0"/>
          </a:p>
          <a:p>
            <a:r>
              <a:rPr lang="en-US" dirty="0"/>
              <a:t>Time-independent is </a:t>
            </a:r>
            <a:r>
              <a:rPr lang="en-US" dirty="0" err="1"/>
              <a:t>essitnailly</a:t>
            </a:r>
            <a:r>
              <a:rPr lang="en-US" dirty="0"/>
              <a:t> a </a:t>
            </a:r>
            <a:r>
              <a:rPr lang="en-US" dirty="0" err="1"/>
              <a:t>stra</a:t>
            </a:r>
            <a:endParaRPr lang="en-US" dirty="0"/>
          </a:p>
        </p:txBody>
      </p:sp>
      <p:sp>
        <p:nvSpPr>
          <p:cNvPr id="4" name="Slide Number Placeholder 3"/>
          <p:cNvSpPr>
            <a:spLocks noGrp="1"/>
          </p:cNvSpPr>
          <p:nvPr>
            <p:ph type="sldNum" sz="quarter" idx="5"/>
          </p:nvPr>
        </p:nvSpPr>
        <p:spPr/>
        <p:txBody>
          <a:bodyPr/>
          <a:lstStyle/>
          <a:p>
            <a:fld id="{F3BF8B27-2346-495E-8BA4-9DD999C08139}" type="slidenum">
              <a:rPr lang="en-US" smtClean="0"/>
              <a:t>9</a:t>
            </a:fld>
            <a:endParaRPr lang="en-US"/>
          </a:p>
        </p:txBody>
      </p:sp>
    </p:spTree>
    <p:extLst>
      <p:ext uri="{BB962C8B-B14F-4D97-AF65-F5344CB8AC3E}">
        <p14:creationId xmlns:p14="http://schemas.microsoft.com/office/powerpoint/2010/main" val="4089286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look at the performance of optimized schedules, we see we can beat the randomized time-independent strategy on small systems but for larger sizes the performance is nearly identical, which is unsurprising considering the close resemblance to the independent schedule.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Overall, the results show it is hard to beat the original randomized strategy even using heavy optimization techniques. In fact, the obtained schedules for 8 and 9 qubit systems hint at the optimality of time-independent evolution although proving it formally would be difficult.</a:t>
            </a:r>
          </a:p>
          <a:p>
            <a:endParaRPr lang="en-US" dirty="0"/>
          </a:p>
        </p:txBody>
      </p:sp>
      <p:sp>
        <p:nvSpPr>
          <p:cNvPr id="4" name="Slide Number Placeholder 3"/>
          <p:cNvSpPr>
            <a:spLocks noGrp="1"/>
          </p:cNvSpPr>
          <p:nvPr>
            <p:ph type="sldNum" sz="quarter" idx="5"/>
          </p:nvPr>
        </p:nvSpPr>
        <p:spPr/>
        <p:txBody>
          <a:bodyPr/>
          <a:lstStyle/>
          <a:p>
            <a:fld id="{F3BF8B27-2346-495E-8BA4-9DD999C08139}" type="slidenum">
              <a:rPr lang="en-US" smtClean="0"/>
              <a:t>10</a:t>
            </a:fld>
            <a:endParaRPr lang="en-US"/>
          </a:p>
        </p:txBody>
      </p:sp>
    </p:spTree>
    <p:extLst>
      <p:ext uri="{BB962C8B-B14F-4D97-AF65-F5344CB8AC3E}">
        <p14:creationId xmlns:p14="http://schemas.microsoft.com/office/powerpoint/2010/main" val="1846530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the big picture overview of the problem. Ultimately, we want to establish a connection between the convergence rate of the Markov chain and the physics which produces the proposal distribution. At this point, we don’t understand it yet. </a:t>
            </a:r>
          </a:p>
          <a:p>
            <a:endParaRPr lang="en-US" dirty="0"/>
          </a:p>
          <a:p>
            <a:r>
              <a:rPr lang="en-US" dirty="0"/>
              <a:t>We approached it by pushing from both directions. The first thing we tried to do is analyze the problem empirically, finding that the quality of the proposal has a strong and complicated dependence on the strength of the mixing term. Then, it turned out, the optimal field strength lies very closely the critical value at which the phase transition occurs. </a:t>
            </a:r>
          </a:p>
          <a:p>
            <a:endParaRPr lang="en-US" dirty="0"/>
          </a:p>
          <a:p>
            <a:r>
              <a:rPr lang="en-US" dirty="0"/>
              <a:t>Going forward, a possible approach on the physics side would to analyze the population flow between the instantaneous eigenstates of the Hamiltonian. This is a fruitful framework because it would allow us to use the Landau-Zener formalism to quantify the transitions between Hamiltonian eigenstates during the quantum evolution, which eventually determine the final distribution. It’s interesting that Landau-Zener typically detrimental in the context of adiabatic quantum computing because they take you of the ground state subspace can be useful in our context if they occur between states with similar energy and far in Hamming distance. </a:t>
            </a:r>
          </a:p>
          <a:p>
            <a:endParaRPr lang="en-US" dirty="0"/>
          </a:p>
          <a:p>
            <a:r>
              <a:rPr lang="en-US" dirty="0"/>
              <a:t>On the MCMC side, it seems that the bottleneck analysis can be a path forward. Essentially, you can analyze the bottlenecks of your chain which are the subsets of configuration space which are hard to escape. This gives some direct bounds on the spectral gap. In turn, can be related to localization of instantaneous eigenstates of the Hamiltonian. Ideally, we would like to derive a bound (ideally both upper and lower) on delta in terms of some physical quantities.</a:t>
            </a:r>
          </a:p>
        </p:txBody>
      </p:sp>
      <p:sp>
        <p:nvSpPr>
          <p:cNvPr id="4" name="Slide Number Placeholder 3"/>
          <p:cNvSpPr>
            <a:spLocks noGrp="1"/>
          </p:cNvSpPr>
          <p:nvPr>
            <p:ph type="sldNum" sz="quarter" idx="5"/>
          </p:nvPr>
        </p:nvSpPr>
        <p:spPr/>
        <p:txBody>
          <a:bodyPr/>
          <a:lstStyle/>
          <a:p>
            <a:fld id="{F3BF8B27-2346-495E-8BA4-9DD999C08139}" type="slidenum">
              <a:rPr lang="en-US" smtClean="0"/>
              <a:t>11</a:t>
            </a:fld>
            <a:endParaRPr lang="en-US"/>
          </a:p>
        </p:txBody>
      </p:sp>
    </p:spTree>
    <p:extLst>
      <p:ext uri="{BB962C8B-B14F-4D97-AF65-F5344CB8AC3E}">
        <p14:creationId xmlns:p14="http://schemas.microsoft.com/office/powerpoint/2010/main" val="3458135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ongoing work. Some important open questions remain. First and foremost, does the speedup persists at larger systems. We don’t know. Numerical study of the spectral gap is feasible only for small systems. At some point one would need a large scale quantum device because it is believed that simulating quantum dynamics is hard, in general.</a:t>
            </a:r>
          </a:p>
          <a:p>
            <a:endParaRPr lang="en-US" dirty="0"/>
          </a:p>
          <a:p>
            <a:r>
              <a:rPr lang="en-US" dirty="0"/>
              <a:t>Which naturally raises a question, how hard is it actually to simulate this dynamics. There is another MSc student working on this topic using tensor networks and it seems quite hard. </a:t>
            </a:r>
          </a:p>
          <a:p>
            <a:endParaRPr lang="en-US" dirty="0"/>
          </a:p>
          <a:p>
            <a:r>
              <a:rPr lang="en-US" dirty="0"/>
              <a:t>Now, the question I am mostly interested and working on is whether we can establish a connection with the physics. </a:t>
            </a:r>
          </a:p>
          <a:p>
            <a:endParaRPr lang="en-US" dirty="0"/>
          </a:p>
          <a:p>
            <a:r>
              <a:rPr lang="en-US" dirty="0"/>
              <a:t>Finally, we focused on spin glasses. Are there other good problems? More broadly, what kinds of problems is quantum MCMC good for? </a:t>
            </a:r>
          </a:p>
        </p:txBody>
      </p:sp>
      <p:sp>
        <p:nvSpPr>
          <p:cNvPr id="4" name="Slide Number Placeholder 3"/>
          <p:cNvSpPr>
            <a:spLocks noGrp="1"/>
          </p:cNvSpPr>
          <p:nvPr>
            <p:ph type="sldNum" sz="quarter" idx="5"/>
          </p:nvPr>
        </p:nvSpPr>
        <p:spPr/>
        <p:txBody>
          <a:bodyPr/>
          <a:lstStyle/>
          <a:p>
            <a:fld id="{F3BF8B27-2346-495E-8BA4-9DD999C08139}" type="slidenum">
              <a:rPr lang="en-US" smtClean="0"/>
              <a:t>12</a:t>
            </a:fld>
            <a:endParaRPr lang="en-US"/>
          </a:p>
        </p:txBody>
      </p:sp>
    </p:spTree>
    <p:extLst>
      <p:ext uri="{BB962C8B-B14F-4D97-AF65-F5344CB8AC3E}">
        <p14:creationId xmlns:p14="http://schemas.microsoft.com/office/powerpoint/2010/main" val="1898684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E9EFC1-AE98-47B1-9E90-AB50A5842214}" type="datetime1">
              <a:rPr lang="en-US" smtClean="0"/>
              <a:t>7/16/2024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54B9F-6C8D-48FB-9BF4-CF6E84C56BB7}" type="slidenum">
              <a:rPr lang="en-US" smtClean="0"/>
              <a:t>‹#›</a:t>
            </a:fld>
            <a:endParaRPr lang="en-US"/>
          </a:p>
        </p:txBody>
      </p:sp>
    </p:spTree>
    <p:extLst>
      <p:ext uri="{BB962C8B-B14F-4D97-AF65-F5344CB8AC3E}">
        <p14:creationId xmlns:p14="http://schemas.microsoft.com/office/powerpoint/2010/main" val="2826232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46B1B6-3956-4C79-B6B3-9354BB8D733E}" type="datetime1">
              <a:rPr lang="en-US" smtClean="0"/>
              <a:t>7/16/2024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54B9F-6C8D-48FB-9BF4-CF6E84C56BB7}" type="slidenum">
              <a:rPr lang="en-US" smtClean="0"/>
              <a:t>‹#›</a:t>
            </a:fld>
            <a:endParaRPr lang="en-US"/>
          </a:p>
        </p:txBody>
      </p:sp>
    </p:spTree>
    <p:extLst>
      <p:ext uri="{BB962C8B-B14F-4D97-AF65-F5344CB8AC3E}">
        <p14:creationId xmlns:p14="http://schemas.microsoft.com/office/powerpoint/2010/main" val="812000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C98A26-12D1-462B-83A2-41784A64FCA2}" type="datetime1">
              <a:rPr lang="en-US" smtClean="0"/>
              <a:t>7/16/2024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54B9F-6C8D-48FB-9BF4-CF6E84C56BB7}" type="slidenum">
              <a:rPr lang="en-US" smtClean="0"/>
              <a:t>‹#›</a:t>
            </a:fld>
            <a:endParaRPr lang="en-US"/>
          </a:p>
        </p:txBody>
      </p:sp>
    </p:spTree>
    <p:extLst>
      <p:ext uri="{BB962C8B-B14F-4D97-AF65-F5344CB8AC3E}">
        <p14:creationId xmlns:p14="http://schemas.microsoft.com/office/powerpoint/2010/main" val="173167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7A3993-9F27-40A1-8864-83EF616E48C9}" type="datetime1">
              <a:rPr lang="en-US" smtClean="0"/>
              <a:t>7/16/2024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254B9F-6C8D-48FB-9BF4-CF6E84C56BB7}" type="slidenum">
              <a:rPr lang="en-US" smtClean="0"/>
              <a:t>‹#›</a:t>
            </a:fld>
            <a:endParaRPr lang="en-US"/>
          </a:p>
        </p:txBody>
      </p:sp>
    </p:spTree>
    <p:extLst>
      <p:ext uri="{BB962C8B-B14F-4D97-AF65-F5344CB8AC3E}">
        <p14:creationId xmlns:p14="http://schemas.microsoft.com/office/powerpoint/2010/main" val="4140793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A488D3-AFE6-42B8-AD39-4578F5A12D01}" type="datetime1">
              <a:rPr lang="en-US" smtClean="0"/>
              <a:t>7/16/2024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254B9F-6C8D-48FB-9BF4-CF6E84C56BB7}" type="slidenum">
              <a:rPr lang="en-US" smtClean="0"/>
              <a:t>‹#›</a:t>
            </a:fld>
            <a:endParaRPr lang="en-US"/>
          </a:p>
        </p:txBody>
      </p:sp>
    </p:spTree>
    <p:extLst>
      <p:ext uri="{BB962C8B-B14F-4D97-AF65-F5344CB8AC3E}">
        <p14:creationId xmlns:p14="http://schemas.microsoft.com/office/powerpoint/2010/main" val="556626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742855-FC17-4523-944D-6C1C637FC0D6}" type="datetime1">
              <a:rPr lang="en-US" smtClean="0"/>
              <a:t>7/16/2024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254B9F-6C8D-48FB-9BF4-CF6E84C56BB7}" type="slidenum">
              <a:rPr lang="en-US" smtClean="0"/>
              <a:t>‹#›</a:t>
            </a:fld>
            <a:endParaRPr lang="en-US"/>
          </a:p>
        </p:txBody>
      </p:sp>
    </p:spTree>
    <p:extLst>
      <p:ext uri="{BB962C8B-B14F-4D97-AF65-F5344CB8AC3E}">
        <p14:creationId xmlns:p14="http://schemas.microsoft.com/office/powerpoint/2010/main" val="740517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889EA6-A423-41B2-9FB9-A99FAC8B4556}" type="datetime1">
              <a:rPr lang="en-US" smtClean="0"/>
              <a:t>7/16/2024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254B9F-6C8D-48FB-9BF4-CF6E84C56BB7}" type="slidenum">
              <a:rPr lang="en-US" smtClean="0"/>
              <a:t>‹#›</a:t>
            </a:fld>
            <a:endParaRPr lang="en-US"/>
          </a:p>
        </p:txBody>
      </p:sp>
    </p:spTree>
    <p:extLst>
      <p:ext uri="{BB962C8B-B14F-4D97-AF65-F5344CB8AC3E}">
        <p14:creationId xmlns:p14="http://schemas.microsoft.com/office/powerpoint/2010/main" val="2749175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8CAC4-B4DB-400C-B17B-8E584E7D78A0}" type="datetime1">
              <a:rPr lang="en-US" smtClean="0"/>
              <a:t>7/16/2024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254B9F-6C8D-48FB-9BF4-CF6E84C56BB7}" type="slidenum">
              <a:rPr lang="en-US" smtClean="0"/>
              <a:t>‹#›</a:t>
            </a:fld>
            <a:endParaRPr lang="en-US"/>
          </a:p>
        </p:txBody>
      </p:sp>
    </p:spTree>
    <p:extLst>
      <p:ext uri="{BB962C8B-B14F-4D97-AF65-F5344CB8AC3E}">
        <p14:creationId xmlns:p14="http://schemas.microsoft.com/office/powerpoint/2010/main" val="1094350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F1E976-95B2-4784-9645-13E771ADD332}" type="datetime1">
              <a:rPr lang="en-US" smtClean="0"/>
              <a:t>7/16/2024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254B9F-6C8D-48FB-9BF4-CF6E84C56BB7}" type="slidenum">
              <a:rPr lang="en-US" smtClean="0"/>
              <a:t>‹#›</a:t>
            </a:fld>
            <a:endParaRPr lang="en-US"/>
          </a:p>
        </p:txBody>
      </p:sp>
    </p:spTree>
    <p:extLst>
      <p:ext uri="{BB962C8B-B14F-4D97-AF65-F5344CB8AC3E}">
        <p14:creationId xmlns:p14="http://schemas.microsoft.com/office/powerpoint/2010/main" val="1539143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486019-9053-459C-807E-DD1FEAE5003F}" type="datetime1">
              <a:rPr lang="en-US" smtClean="0"/>
              <a:t>7/16/2024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54B9F-6C8D-48FB-9BF4-CF6E84C56BB7}" type="slidenum">
              <a:rPr lang="en-US" smtClean="0"/>
              <a:t>‹#›</a:t>
            </a:fld>
            <a:endParaRPr lang="en-US"/>
          </a:p>
        </p:txBody>
      </p:sp>
    </p:spTree>
    <p:extLst>
      <p:ext uri="{BB962C8B-B14F-4D97-AF65-F5344CB8AC3E}">
        <p14:creationId xmlns:p14="http://schemas.microsoft.com/office/powerpoint/2010/main" val="769400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B06712-782C-4449-B66C-1364B5568376}" type="datetime1">
              <a:rPr lang="en-US" smtClean="0"/>
              <a:t>7/16/2024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54B9F-6C8D-48FB-9BF4-CF6E84C56BB7}" type="slidenum">
              <a:rPr lang="en-US" smtClean="0"/>
              <a:t>‹#›</a:t>
            </a:fld>
            <a:endParaRPr lang="en-US"/>
          </a:p>
        </p:txBody>
      </p:sp>
    </p:spTree>
    <p:extLst>
      <p:ext uri="{BB962C8B-B14F-4D97-AF65-F5344CB8AC3E}">
        <p14:creationId xmlns:p14="http://schemas.microsoft.com/office/powerpoint/2010/main" val="908290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CADD8B-EB3E-4F3E-B56E-F05C2DD4C32B}" type="datetime1">
              <a:rPr lang="en-US" smtClean="0"/>
              <a:t>7/16/2024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254B9F-6C8D-48FB-9BF4-CF6E84C56BB7}" type="slidenum">
              <a:rPr lang="en-US" smtClean="0"/>
              <a:t>‹#›</a:t>
            </a:fld>
            <a:endParaRPr lang="en-US"/>
          </a:p>
        </p:txBody>
      </p:sp>
    </p:spTree>
    <p:extLst>
      <p:ext uri="{BB962C8B-B14F-4D97-AF65-F5344CB8AC3E}">
        <p14:creationId xmlns:p14="http://schemas.microsoft.com/office/powerpoint/2010/main" val="4788026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3.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10" Type="http://schemas.microsoft.com/office/2007/relationships/hdphoto" Target="../media/hdphoto1.wdp"/><Relationship Id="rId4" Type="http://schemas.openxmlformats.org/officeDocument/2006/relationships/image" Target="../media/image16.png"/><Relationship Id="rId9" Type="http://schemas.openxmlformats.org/officeDocument/2006/relationships/image" Target="../media/image2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180C2BE-0DC7-0DDF-CDED-43E7DDD1CC4C}"/>
              </a:ext>
            </a:extLst>
          </p:cNvPr>
          <p:cNvSpPr>
            <a:spLocks noGrp="1"/>
          </p:cNvSpPr>
          <p:nvPr>
            <p:ph type="dt" sz="half" idx="10"/>
          </p:nvPr>
        </p:nvSpPr>
        <p:spPr/>
        <p:txBody>
          <a:bodyPr/>
          <a:lstStyle/>
          <a:p>
            <a:fld id="{A7B7253D-62BD-4BCA-BCB5-DB3505DA3DAC}" type="datetime1">
              <a:rPr lang="en-US" smtClean="0"/>
              <a:t>7/17/2024</a:t>
            </a:fld>
            <a:endParaRPr lang="en-US"/>
          </a:p>
        </p:txBody>
      </p:sp>
      <p:sp>
        <p:nvSpPr>
          <p:cNvPr id="24" name="Slide Number Placeholder 23">
            <a:extLst>
              <a:ext uri="{FF2B5EF4-FFF2-40B4-BE49-F238E27FC236}">
                <a16:creationId xmlns:a16="http://schemas.microsoft.com/office/drawing/2014/main" id="{2ACB7CB3-FBA8-ABCE-1F6E-8D059CD2A96E}"/>
              </a:ext>
            </a:extLst>
          </p:cNvPr>
          <p:cNvSpPr>
            <a:spLocks noGrp="1"/>
          </p:cNvSpPr>
          <p:nvPr>
            <p:ph type="sldNum" sz="quarter" idx="12"/>
          </p:nvPr>
        </p:nvSpPr>
        <p:spPr/>
        <p:txBody>
          <a:bodyPr/>
          <a:lstStyle/>
          <a:p>
            <a:fld id="{B1254B9F-6C8D-48FB-9BF4-CF6E84C56BB7}" type="slidenum">
              <a:rPr lang="en-US" smtClean="0"/>
              <a:t>1</a:t>
            </a:fld>
            <a:endParaRPr lang="en-US"/>
          </a:p>
        </p:txBody>
      </p:sp>
      <p:pic>
        <p:nvPicPr>
          <p:cNvPr id="26" name="Picture 25">
            <a:extLst>
              <a:ext uri="{FF2B5EF4-FFF2-40B4-BE49-F238E27FC236}">
                <a16:creationId xmlns:a16="http://schemas.microsoft.com/office/drawing/2014/main" id="{710C382E-C958-160D-D3DF-32BF64028971}"/>
              </a:ext>
            </a:extLst>
          </p:cNvPr>
          <p:cNvPicPr>
            <a:picLocks noChangeAspect="1"/>
          </p:cNvPicPr>
          <p:nvPr/>
        </p:nvPicPr>
        <p:blipFill rotWithShape="1">
          <a:blip r:embed="rId3"/>
          <a:srcRect b="84637"/>
          <a:stretch/>
        </p:blipFill>
        <p:spPr>
          <a:xfrm>
            <a:off x="667965" y="838316"/>
            <a:ext cx="11122372" cy="736600"/>
          </a:xfrm>
          <a:prstGeom prst="rect">
            <a:avLst/>
          </a:prstGeom>
        </p:spPr>
      </p:pic>
      <p:pic>
        <p:nvPicPr>
          <p:cNvPr id="27" name="Picture 26">
            <a:extLst>
              <a:ext uri="{FF2B5EF4-FFF2-40B4-BE49-F238E27FC236}">
                <a16:creationId xmlns:a16="http://schemas.microsoft.com/office/drawing/2014/main" id="{0D7D8340-173B-49D2-1FCC-081DE624394A}"/>
              </a:ext>
            </a:extLst>
          </p:cNvPr>
          <p:cNvPicPr>
            <a:picLocks noChangeAspect="1"/>
          </p:cNvPicPr>
          <p:nvPr/>
        </p:nvPicPr>
        <p:blipFill rotWithShape="1">
          <a:blip r:embed="rId3"/>
          <a:srcRect t="41216"/>
          <a:stretch/>
        </p:blipFill>
        <p:spPr>
          <a:xfrm>
            <a:off x="1009231" y="2329843"/>
            <a:ext cx="10173538" cy="2577998"/>
          </a:xfrm>
          <a:prstGeom prst="rect">
            <a:avLst/>
          </a:prstGeom>
        </p:spPr>
      </p:pic>
      <p:sp>
        <p:nvSpPr>
          <p:cNvPr id="28" name="TextBox 27">
            <a:extLst>
              <a:ext uri="{FF2B5EF4-FFF2-40B4-BE49-F238E27FC236}">
                <a16:creationId xmlns:a16="http://schemas.microsoft.com/office/drawing/2014/main" id="{F4455E78-50D7-65F3-A3D7-31486D689A2E}"/>
              </a:ext>
            </a:extLst>
          </p:cNvPr>
          <p:cNvSpPr txBox="1"/>
          <p:nvPr/>
        </p:nvSpPr>
        <p:spPr>
          <a:xfrm>
            <a:off x="1528770" y="1781054"/>
            <a:ext cx="8639994" cy="338554"/>
          </a:xfrm>
          <a:prstGeom prst="rect">
            <a:avLst/>
          </a:prstGeom>
          <a:noFill/>
        </p:spPr>
        <p:txBody>
          <a:bodyPr wrap="none" rtlCol="0">
            <a:spAutoFit/>
          </a:bodyPr>
          <a:lstStyle/>
          <a:p>
            <a:r>
              <a:rPr lang="en-US" sz="1600" b="1" dirty="0">
                <a:latin typeface="+mj-lt"/>
              </a:rPr>
              <a:t>Petr Ivashkov </a:t>
            </a:r>
            <a:r>
              <a:rPr lang="en-US" sz="1600" dirty="0">
                <a:latin typeface="+mj-lt"/>
              </a:rPr>
              <a:t>supervised by </a:t>
            </a:r>
            <a:r>
              <a:rPr lang="en-US" sz="1600" b="1" dirty="0">
                <a:latin typeface="+mj-lt"/>
              </a:rPr>
              <a:t>Guglielmo Mazzola (UZH) </a:t>
            </a:r>
            <a:r>
              <a:rPr lang="en-US" sz="1600" dirty="0">
                <a:latin typeface="+mj-lt"/>
              </a:rPr>
              <a:t>and</a:t>
            </a:r>
            <a:r>
              <a:rPr lang="en-US" sz="1600" b="1" dirty="0">
                <a:latin typeface="+mj-lt"/>
              </a:rPr>
              <a:t> </a:t>
            </a:r>
            <a:r>
              <a:rPr lang="en-US" sz="1600" dirty="0">
                <a:latin typeface="+mj-lt"/>
              </a:rPr>
              <a:t>co-supervised by </a:t>
            </a:r>
            <a:r>
              <a:rPr lang="en-US" sz="1600" b="1" dirty="0">
                <a:latin typeface="+mj-lt"/>
              </a:rPr>
              <a:t>Joseph Renes (ETH)</a:t>
            </a:r>
          </a:p>
        </p:txBody>
      </p:sp>
      <p:pic>
        <p:nvPicPr>
          <p:cNvPr id="31" name="Picture 30">
            <a:extLst>
              <a:ext uri="{FF2B5EF4-FFF2-40B4-BE49-F238E27FC236}">
                <a16:creationId xmlns:a16="http://schemas.microsoft.com/office/drawing/2014/main" id="{FFD51BCC-28DF-CD3C-4651-82960839F535}"/>
              </a:ext>
            </a:extLst>
          </p:cNvPr>
          <p:cNvPicPr>
            <a:picLocks noChangeAspect="1"/>
          </p:cNvPicPr>
          <p:nvPr/>
        </p:nvPicPr>
        <p:blipFill>
          <a:blip r:embed="rId4"/>
          <a:stretch>
            <a:fillRect/>
          </a:stretch>
        </p:blipFill>
        <p:spPr>
          <a:xfrm>
            <a:off x="3585983" y="5102292"/>
            <a:ext cx="5024617" cy="1120952"/>
          </a:xfrm>
          <a:prstGeom prst="rect">
            <a:avLst/>
          </a:prstGeom>
          <a:ln>
            <a:solidFill>
              <a:srgbClr val="FF0000"/>
            </a:solidFill>
          </a:ln>
        </p:spPr>
      </p:pic>
    </p:spTree>
    <p:extLst>
      <p:ext uri="{BB962C8B-B14F-4D97-AF65-F5344CB8AC3E}">
        <p14:creationId xmlns:p14="http://schemas.microsoft.com/office/powerpoint/2010/main" val="2789600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37E16-2482-FB3B-FED0-9146C3B2E108}"/>
              </a:ext>
            </a:extLst>
          </p:cNvPr>
          <p:cNvSpPr>
            <a:spLocks noGrp="1"/>
          </p:cNvSpPr>
          <p:nvPr>
            <p:ph type="title"/>
          </p:nvPr>
        </p:nvSpPr>
        <p:spPr/>
        <p:txBody>
          <a:bodyPr/>
          <a:lstStyle/>
          <a:p>
            <a:r>
              <a:rPr lang="en-US" dirty="0"/>
              <a:t>Talk outline</a:t>
            </a:r>
          </a:p>
        </p:txBody>
      </p:sp>
      <p:sp>
        <p:nvSpPr>
          <p:cNvPr id="3" name="Date Placeholder 2">
            <a:extLst>
              <a:ext uri="{FF2B5EF4-FFF2-40B4-BE49-F238E27FC236}">
                <a16:creationId xmlns:a16="http://schemas.microsoft.com/office/drawing/2014/main" id="{763C6067-25FD-7EC6-F5C8-5923830B9426}"/>
              </a:ext>
            </a:extLst>
          </p:cNvPr>
          <p:cNvSpPr>
            <a:spLocks noGrp="1"/>
          </p:cNvSpPr>
          <p:nvPr>
            <p:ph type="dt" sz="half" idx="10"/>
          </p:nvPr>
        </p:nvSpPr>
        <p:spPr/>
        <p:txBody>
          <a:bodyPr/>
          <a:lstStyle/>
          <a:p>
            <a:fld id="{85742855-FC17-4523-944D-6C1C637FC0D6}" type="datetime1">
              <a:rPr lang="en-US" smtClean="0"/>
              <a:t>7/17/2024</a:t>
            </a:fld>
            <a:endParaRPr lang="en-US"/>
          </a:p>
        </p:txBody>
      </p:sp>
      <p:sp>
        <p:nvSpPr>
          <p:cNvPr id="4" name="Slide Number Placeholder 3">
            <a:extLst>
              <a:ext uri="{FF2B5EF4-FFF2-40B4-BE49-F238E27FC236}">
                <a16:creationId xmlns:a16="http://schemas.microsoft.com/office/drawing/2014/main" id="{830244F0-203A-2310-901D-D96F9D2C1B70}"/>
              </a:ext>
            </a:extLst>
          </p:cNvPr>
          <p:cNvSpPr>
            <a:spLocks noGrp="1"/>
          </p:cNvSpPr>
          <p:nvPr>
            <p:ph type="sldNum" sz="quarter" idx="12"/>
          </p:nvPr>
        </p:nvSpPr>
        <p:spPr/>
        <p:txBody>
          <a:bodyPr/>
          <a:lstStyle/>
          <a:p>
            <a:fld id="{B1254B9F-6C8D-48FB-9BF4-CF6E84C56BB7}" type="slidenum">
              <a:rPr lang="en-US" smtClean="0"/>
              <a:t>2</a:t>
            </a:fld>
            <a:endParaRPr lang="en-US"/>
          </a:p>
        </p:txBody>
      </p:sp>
      <p:sp>
        <p:nvSpPr>
          <p:cNvPr id="5" name="TextBox 4">
            <a:extLst>
              <a:ext uri="{FF2B5EF4-FFF2-40B4-BE49-F238E27FC236}">
                <a16:creationId xmlns:a16="http://schemas.microsoft.com/office/drawing/2014/main" id="{1A9FFBCF-83D7-A6FC-914C-5B329283B033}"/>
              </a:ext>
            </a:extLst>
          </p:cNvPr>
          <p:cNvSpPr txBox="1"/>
          <p:nvPr/>
        </p:nvSpPr>
        <p:spPr>
          <a:xfrm>
            <a:off x="1738292" y="1817626"/>
            <a:ext cx="4094391" cy="4411785"/>
          </a:xfrm>
          <a:prstGeom prst="rect">
            <a:avLst/>
          </a:prstGeom>
          <a:noFill/>
        </p:spPr>
        <p:txBody>
          <a:bodyPr wrap="none" rtlCol="0">
            <a:spAutoFit/>
          </a:bodyPr>
          <a:lstStyle/>
          <a:p>
            <a:pPr marL="342900" indent="-342900">
              <a:lnSpc>
                <a:spcPct val="200000"/>
              </a:lnSpc>
              <a:buFont typeface="+mj-lt"/>
              <a:buAutoNum type="arabicPeriod"/>
            </a:pPr>
            <a:r>
              <a:rPr lang="en-US" sz="2400" dirty="0">
                <a:latin typeface="+mj-lt"/>
              </a:rPr>
              <a:t>Sampling and MCMC basics</a:t>
            </a:r>
          </a:p>
          <a:p>
            <a:pPr marL="342900" indent="-342900">
              <a:lnSpc>
                <a:spcPct val="200000"/>
              </a:lnSpc>
              <a:buFont typeface="+mj-lt"/>
              <a:buAutoNum type="arabicPeriod"/>
            </a:pPr>
            <a:r>
              <a:rPr lang="en-US" sz="2400" dirty="0">
                <a:latin typeface="+mj-lt"/>
              </a:rPr>
              <a:t>Quantum-enhanced MCMC</a:t>
            </a:r>
          </a:p>
          <a:p>
            <a:pPr marL="342900" indent="-342900">
              <a:lnSpc>
                <a:spcPct val="200000"/>
              </a:lnSpc>
              <a:buFont typeface="+mj-lt"/>
              <a:buAutoNum type="arabicPeriod"/>
            </a:pPr>
            <a:r>
              <a:rPr lang="en-US" sz="2400" dirty="0">
                <a:latin typeface="+mj-lt"/>
              </a:rPr>
              <a:t>Optimal parameter regimes</a:t>
            </a:r>
          </a:p>
          <a:p>
            <a:pPr marL="342900" indent="-342900">
              <a:lnSpc>
                <a:spcPct val="200000"/>
              </a:lnSpc>
              <a:buFont typeface="+mj-lt"/>
              <a:buAutoNum type="arabicPeriod"/>
            </a:pPr>
            <a:r>
              <a:rPr lang="en-US" sz="2400" dirty="0">
                <a:latin typeface="+mj-lt"/>
              </a:rPr>
              <a:t>Alternative approaches</a:t>
            </a:r>
          </a:p>
          <a:p>
            <a:pPr marL="342900" indent="-342900">
              <a:lnSpc>
                <a:spcPct val="200000"/>
              </a:lnSpc>
              <a:buFont typeface="+mj-lt"/>
              <a:buAutoNum type="arabicPeriod"/>
            </a:pPr>
            <a:r>
              <a:rPr lang="en-US" sz="2400" dirty="0">
                <a:latin typeface="+mj-lt"/>
              </a:rPr>
              <a:t>Big picture view</a:t>
            </a:r>
          </a:p>
          <a:p>
            <a:pPr marL="342900" indent="-342900">
              <a:lnSpc>
                <a:spcPct val="200000"/>
              </a:lnSpc>
              <a:buFont typeface="+mj-lt"/>
              <a:buAutoNum type="arabicPeriod"/>
            </a:pPr>
            <a:endParaRPr lang="en-US" sz="2400" dirty="0">
              <a:latin typeface="+mj-lt"/>
            </a:endParaRPr>
          </a:p>
        </p:txBody>
      </p:sp>
      <p:sp>
        <p:nvSpPr>
          <p:cNvPr id="6" name="TextBox 5">
            <a:extLst>
              <a:ext uri="{FF2B5EF4-FFF2-40B4-BE49-F238E27FC236}">
                <a16:creationId xmlns:a16="http://schemas.microsoft.com/office/drawing/2014/main" id="{0EF65AC9-5129-A3C2-449E-2F53DFFA7751}"/>
              </a:ext>
            </a:extLst>
          </p:cNvPr>
          <p:cNvSpPr txBox="1"/>
          <p:nvPr/>
        </p:nvSpPr>
        <p:spPr>
          <a:xfrm>
            <a:off x="8406513" y="5521124"/>
            <a:ext cx="2764475" cy="400110"/>
          </a:xfrm>
          <a:prstGeom prst="rect">
            <a:avLst/>
          </a:prstGeom>
          <a:solidFill>
            <a:srgbClr val="92D050">
              <a:tint val="66000"/>
              <a:satMod val="160000"/>
            </a:srgbClr>
          </a:solidFill>
        </p:spPr>
        <p:txBody>
          <a:bodyPr wrap="none" rtlCol="0">
            <a:spAutoFit/>
          </a:bodyPr>
          <a:lstStyle/>
          <a:p>
            <a:r>
              <a:rPr lang="en-US" sz="2000" b="1" dirty="0">
                <a:latin typeface="+mj-lt"/>
              </a:rPr>
              <a:t>Questions are welcome!</a:t>
            </a:r>
          </a:p>
        </p:txBody>
      </p:sp>
    </p:spTree>
    <p:extLst>
      <p:ext uri="{BB962C8B-B14F-4D97-AF65-F5344CB8AC3E}">
        <p14:creationId xmlns:p14="http://schemas.microsoft.com/office/powerpoint/2010/main" val="2988479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EE3B8-DA04-5F34-71D8-2BEEC16C8F73}"/>
              </a:ext>
            </a:extLst>
          </p:cNvPr>
          <p:cNvSpPr>
            <a:spLocks noGrp="1"/>
          </p:cNvSpPr>
          <p:nvPr>
            <p:ph type="title"/>
          </p:nvPr>
        </p:nvSpPr>
        <p:spPr/>
        <p:txBody>
          <a:bodyPr/>
          <a:lstStyle/>
          <a:p>
            <a:r>
              <a:rPr lang="en-US" dirty="0"/>
              <a:t>Sampling</a:t>
            </a:r>
          </a:p>
        </p:txBody>
      </p:sp>
      <p:sp>
        <p:nvSpPr>
          <p:cNvPr id="3" name="Date Placeholder 2">
            <a:extLst>
              <a:ext uri="{FF2B5EF4-FFF2-40B4-BE49-F238E27FC236}">
                <a16:creationId xmlns:a16="http://schemas.microsoft.com/office/drawing/2014/main" id="{7E2C4C8C-8468-3742-2D02-1EE8E8F13FFA}"/>
              </a:ext>
            </a:extLst>
          </p:cNvPr>
          <p:cNvSpPr>
            <a:spLocks noGrp="1"/>
          </p:cNvSpPr>
          <p:nvPr>
            <p:ph type="dt" sz="half" idx="10"/>
          </p:nvPr>
        </p:nvSpPr>
        <p:spPr/>
        <p:txBody>
          <a:bodyPr/>
          <a:lstStyle/>
          <a:p>
            <a:fld id="{85742855-FC17-4523-944D-6C1C637FC0D6}" type="datetime1">
              <a:rPr lang="en-US" smtClean="0"/>
              <a:t>7/17/2024</a:t>
            </a:fld>
            <a:endParaRPr lang="en-US"/>
          </a:p>
        </p:txBody>
      </p:sp>
      <p:sp>
        <p:nvSpPr>
          <p:cNvPr id="4" name="Slide Number Placeholder 3">
            <a:extLst>
              <a:ext uri="{FF2B5EF4-FFF2-40B4-BE49-F238E27FC236}">
                <a16:creationId xmlns:a16="http://schemas.microsoft.com/office/drawing/2014/main" id="{24FD2F4B-ECA4-1D52-78EA-A403AE7A1E94}"/>
              </a:ext>
            </a:extLst>
          </p:cNvPr>
          <p:cNvSpPr>
            <a:spLocks noGrp="1"/>
          </p:cNvSpPr>
          <p:nvPr>
            <p:ph type="sldNum" sz="quarter" idx="12"/>
          </p:nvPr>
        </p:nvSpPr>
        <p:spPr/>
        <p:txBody>
          <a:bodyPr/>
          <a:lstStyle/>
          <a:p>
            <a:fld id="{B1254B9F-6C8D-48FB-9BF4-CF6E84C56BB7}" type="slidenum">
              <a:rPr lang="en-US" smtClean="0"/>
              <a:t>3</a:t>
            </a:fld>
            <a:endParaRPr lang="en-US"/>
          </a:p>
        </p:txBody>
      </p:sp>
      <p:pic>
        <p:nvPicPr>
          <p:cNvPr id="23" name="Picture 22">
            <a:extLst>
              <a:ext uri="{FF2B5EF4-FFF2-40B4-BE49-F238E27FC236}">
                <a16:creationId xmlns:a16="http://schemas.microsoft.com/office/drawing/2014/main" id="{13446006-458C-4E7B-955B-A653957FC1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7181" y="1879471"/>
            <a:ext cx="4831242" cy="3729707"/>
          </a:xfrm>
          <a:prstGeom prst="rect">
            <a:avLst/>
          </a:prstGeom>
        </p:spPr>
      </p:pic>
      <p:pic>
        <p:nvPicPr>
          <p:cNvPr id="18" name="Picture 17">
            <a:extLst>
              <a:ext uri="{FF2B5EF4-FFF2-40B4-BE49-F238E27FC236}">
                <a16:creationId xmlns:a16="http://schemas.microsoft.com/office/drawing/2014/main" id="{DACE6968-610B-6BCC-1F36-D035A34B584C}"/>
              </a:ext>
            </a:extLst>
          </p:cNvPr>
          <p:cNvPicPr>
            <a:picLocks noChangeAspect="1"/>
          </p:cNvPicPr>
          <p:nvPr/>
        </p:nvPicPr>
        <p:blipFill rotWithShape="1">
          <a:blip r:embed="rId4"/>
          <a:srcRect b="26720"/>
          <a:stretch/>
        </p:blipFill>
        <p:spPr>
          <a:xfrm>
            <a:off x="971021" y="3779414"/>
            <a:ext cx="4245669" cy="1066873"/>
          </a:xfrm>
          <a:prstGeom prst="rect">
            <a:avLst/>
          </a:prstGeom>
        </p:spPr>
      </p:pic>
      <p:pic>
        <p:nvPicPr>
          <p:cNvPr id="20" name="Picture 19">
            <a:extLst>
              <a:ext uri="{FF2B5EF4-FFF2-40B4-BE49-F238E27FC236}">
                <a16:creationId xmlns:a16="http://schemas.microsoft.com/office/drawing/2014/main" id="{79E72CBC-E49A-3BF7-4258-64E66DE20CED}"/>
              </a:ext>
            </a:extLst>
          </p:cNvPr>
          <p:cNvPicPr>
            <a:picLocks noChangeAspect="1"/>
          </p:cNvPicPr>
          <p:nvPr/>
        </p:nvPicPr>
        <p:blipFill>
          <a:blip r:embed="rId5"/>
          <a:stretch>
            <a:fillRect/>
          </a:stretch>
        </p:blipFill>
        <p:spPr>
          <a:xfrm>
            <a:off x="1413105" y="5469240"/>
            <a:ext cx="3742592" cy="503078"/>
          </a:xfrm>
          <a:prstGeom prst="rect">
            <a:avLst/>
          </a:prstGeom>
        </p:spPr>
      </p:pic>
      <p:pic>
        <p:nvPicPr>
          <p:cNvPr id="25" name="Picture 24">
            <a:extLst>
              <a:ext uri="{FF2B5EF4-FFF2-40B4-BE49-F238E27FC236}">
                <a16:creationId xmlns:a16="http://schemas.microsoft.com/office/drawing/2014/main" id="{7865A57C-AED3-1200-B793-AFD9BEE7FDE1}"/>
              </a:ext>
            </a:extLst>
          </p:cNvPr>
          <p:cNvPicPr>
            <a:picLocks noChangeAspect="1"/>
          </p:cNvPicPr>
          <p:nvPr/>
        </p:nvPicPr>
        <p:blipFill>
          <a:blip r:embed="rId6"/>
          <a:stretch>
            <a:fillRect/>
          </a:stretch>
        </p:blipFill>
        <p:spPr>
          <a:xfrm>
            <a:off x="960120" y="1920495"/>
            <a:ext cx="3026088" cy="929931"/>
          </a:xfrm>
          <a:prstGeom prst="rect">
            <a:avLst/>
          </a:prstGeom>
        </p:spPr>
      </p:pic>
      <p:pic>
        <p:nvPicPr>
          <p:cNvPr id="27" name="Picture 26">
            <a:extLst>
              <a:ext uri="{FF2B5EF4-FFF2-40B4-BE49-F238E27FC236}">
                <a16:creationId xmlns:a16="http://schemas.microsoft.com/office/drawing/2014/main" id="{9DC18935-0328-E47E-3035-472A4400C827}"/>
              </a:ext>
            </a:extLst>
          </p:cNvPr>
          <p:cNvPicPr>
            <a:picLocks noChangeAspect="1"/>
          </p:cNvPicPr>
          <p:nvPr/>
        </p:nvPicPr>
        <p:blipFill>
          <a:blip r:embed="rId7"/>
          <a:stretch>
            <a:fillRect/>
          </a:stretch>
        </p:blipFill>
        <p:spPr>
          <a:xfrm>
            <a:off x="2434680" y="2945662"/>
            <a:ext cx="2385807" cy="449720"/>
          </a:xfrm>
          <a:prstGeom prst="rect">
            <a:avLst/>
          </a:prstGeom>
        </p:spPr>
      </p:pic>
      <p:pic>
        <p:nvPicPr>
          <p:cNvPr id="33" name="Picture 32">
            <a:extLst>
              <a:ext uri="{FF2B5EF4-FFF2-40B4-BE49-F238E27FC236}">
                <a16:creationId xmlns:a16="http://schemas.microsoft.com/office/drawing/2014/main" id="{F1FB10EC-E34B-6ECF-B908-CC448B6448C8}"/>
              </a:ext>
            </a:extLst>
          </p:cNvPr>
          <p:cNvPicPr>
            <a:picLocks noChangeAspect="1"/>
          </p:cNvPicPr>
          <p:nvPr/>
        </p:nvPicPr>
        <p:blipFill>
          <a:blip r:embed="rId8"/>
          <a:stretch>
            <a:fillRect/>
          </a:stretch>
        </p:blipFill>
        <p:spPr>
          <a:xfrm>
            <a:off x="971021" y="4913014"/>
            <a:ext cx="2910099" cy="453212"/>
          </a:xfrm>
          <a:prstGeom prst="rect">
            <a:avLst/>
          </a:prstGeom>
        </p:spPr>
      </p:pic>
    </p:spTree>
    <p:extLst>
      <p:ext uri="{BB962C8B-B14F-4D97-AF65-F5344CB8AC3E}">
        <p14:creationId xmlns:p14="http://schemas.microsoft.com/office/powerpoint/2010/main" val="1476893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imodal Distribution: Definition, Examples &amp; Analysis - Statistics By Jim">
            <a:extLst>
              <a:ext uri="{FF2B5EF4-FFF2-40B4-BE49-F238E27FC236}">
                <a16:creationId xmlns:a16="http://schemas.microsoft.com/office/drawing/2014/main" id="{F932F4FD-411C-DC2C-2592-04CFDBDC86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8802707" y="2159559"/>
            <a:ext cx="3171934" cy="1930252"/>
          </a:xfrm>
          <a:prstGeom prst="rect">
            <a:avLst/>
          </a:prstGeom>
          <a:noFill/>
          <a:extLst>
            <a:ext uri="{909E8E84-426E-40DD-AFC4-6F175D3DCCD1}">
              <a14:hiddenFill xmlns:a14="http://schemas.microsoft.com/office/drawing/2010/main">
                <a:solidFill>
                  <a:srgbClr val="FFFFFF"/>
                </a:solidFill>
              </a14:hiddenFill>
            </a:ext>
          </a:extLst>
        </p:spPr>
      </p:pic>
      <p:cxnSp>
        <p:nvCxnSpPr>
          <p:cNvPr id="1045" name="Straight Connector 1044">
            <a:extLst>
              <a:ext uri="{FF2B5EF4-FFF2-40B4-BE49-F238E27FC236}">
                <a16:creationId xmlns:a16="http://schemas.microsoft.com/office/drawing/2014/main" id="{2EB07586-2DBF-2EA9-0D93-218C94E50CB5}"/>
              </a:ext>
            </a:extLst>
          </p:cNvPr>
          <p:cNvCxnSpPr>
            <a:cxnSpLocks/>
            <a:stCxn id="6" idx="6"/>
            <a:endCxn id="48" idx="2"/>
          </p:cNvCxnSpPr>
          <p:nvPr/>
        </p:nvCxnSpPr>
        <p:spPr>
          <a:xfrm>
            <a:off x="7018792" y="3528481"/>
            <a:ext cx="2640863" cy="30334"/>
          </a:xfrm>
          <a:prstGeom prst="line">
            <a:avLst/>
          </a:prstGeom>
          <a:ln w="127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86D88FD-26F7-07D1-62C6-E3AADE3CE110}"/>
              </a:ext>
            </a:extLst>
          </p:cNvPr>
          <p:cNvSpPr>
            <a:spLocks noGrp="1"/>
          </p:cNvSpPr>
          <p:nvPr>
            <p:ph type="title"/>
          </p:nvPr>
        </p:nvSpPr>
        <p:spPr/>
        <p:txBody>
          <a:bodyPr/>
          <a:lstStyle/>
          <a:p>
            <a:r>
              <a:rPr lang="en-US" dirty="0"/>
              <a:t>MCMC Basics</a:t>
            </a:r>
          </a:p>
        </p:txBody>
      </p:sp>
      <p:sp>
        <p:nvSpPr>
          <p:cNvPr id="3" name="Date Placeholder 2">
            <a:extLst>
              <a:ext uri="{FF2B5EF4-FFF2-40B4-BE49-F238E27FC236}">
                <a16:creationId xmlns:a16="http://schemas.microsoft.com/office/drawing/2014/main" id="{F4F8936B-CDA8-2275-B51A-DCC636DB98B4}"/>
              </a:ext>
            </a:extLst>
          </p:cNvPr>
          <p:cNvSpPr>
            <a:spLocks noGrp="1"/>
          </p:cNvSpPr>
          <p:nvPr>
            <p:ph type="dt" sz="half" idx="10"/>
          </p:nvPr>
        </p:nvSpPr>
        <p:spPr/>
        <p:txBody>
          <a:bodyPr/>
          <a:lstStyle/>
          <a:p>
            <a:fld id="{85742855-FC17-4523-944D-6C1C637FC0D6}" type="datetime1">
              <a:rPr lang="en-US" smtClean="0"/>
              <a:t>7/17/2024</a:t>
            </a:fld>
            <a:endParaRPr lang="en-US"/>
          </a:p>
        </p:txBody>
      </p:sp>
      <p:sp>
        <p:nvSpPr>
          <p:cNvPr id="4" name="Slide Number Placeholder 3">
            <a:extLst>
              <a:ext uri="{FF2B5EF4-FFF2-40B4-BE49-F238E27FC236}">
                <a16:creationId xmlns:a16="http://schemas.microsoft.com/office/drawing/2014/main" id="{F9C33E00-2C52-097F-5DE8-EADEC0108EB4}"/>
              </a:ext>
            </a:extLst>
          </p:cNvPr>
          <p:cNvSpPr>
            <a:spLocks noGrp="1"/>
          </p:cNvSpPr>
          <p:nvPr>
            <p:ph type="sldNum" sz="quarter" idx="12"/>
          </p:nvPr>
        </p:nvSpPr>
        <p:spPr/>
        <p:txBody>
          <a:bodyPr/>
          <a:lstStyle/>
          <a:p>
            <a:fld id="{B1254B9F-6C8D-48FB-9BF4-CF6E84C56BB7}" type="slidenum">
              <a:rPr lang="en-US" smtClean="0"/>
              <a:t>4</a:t>
            </a:fld>
            <a:endParaRPr lang="en-US"/>
          </a:p>
        </p:txBody>
      </p:sp>
      <p:sp>
        <p:nvSpPr>
          <p:cNvPr id="6" name="Oval 5">
            <a:extLst>
              <a:ext uri="{FF2B5EF4-FFF2-40B4-BE49-F238E27FC236}">
                <a16:creationId xmlns:a16="http://schemas.microsoft.com/office/drawing/2014/main" id="{6B9AE770-24C2-D68B-8398-214A49D1D9CD}"/>
              </a:ext>
            </a:extLst>
          </p:cNvPr>
          <p:cNvSpPr/>
          <p:nvPr/>
        </p:nvSpPr>
        <p:spPr>
          <a:xfrm>
            <a:off x="6283296" y="3180611"/>
            <a:ext cx="735496" cy="695740"/>
          </a:xfrm>
          <a:prstGeom prst="ellipse">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7C7168E-F35F-7CF8-812D-E6EBD76CB5B3}"/>
              </a:ext>
            </a:extLst>
          </p:cNvPr>
          <p:cNvSpPr/>
          <p:nvPr/>
        </p:nvSpPr>
        <p:spPr>
          <a:xfrm>
            <a:off x="7091294" y="2285056"/>
            <a:ext cx="735496" cy="695740"/>
          </a:xfrm>
          <a:prstGeom prst="ellipse">
            <a:avLst/>
          </a:prstGeom>
          <a:ln w="28575">
            <a:prstDash val="dash"/>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latin typeface="+mj-lt"/>
            </a:endParaRPr>
          </a:p>
        </p:txBody>
      </p:sp>
      <p:sp>
        <p:nvSpPr>
          <p:cNvPr id="8" name="Oval 7">
            <a:extLst>
              <a:ext uri="{FF2B5EF4-FFF2-40B4-BE49-F238E27FC236}">
                <a16:creationId xmlns:a16="http://schemas.microsoft.com/office/drawing/2014/main" id="{E82CDBB1-A66C-BEC5-4422-BFA960E9F518}"/>
              </a:ext>
            </a:extLst>
          </p:cNvPr>
          <p:cNvSpPr/>
          <p:nvPr/>
        </p:nvSpPr>
        <p:spPr>
          <a:xfrm>
            <a:off x="7862887" y="3411444"/>
            <a:ext cx="735496" cy="695740"/>
          </a:xfrm>
          <a:prstGeom prst="ellipse">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92881D9-7A8A-04FC-2172-F8D4DF1E7F63}"/>
              </a:ext>
            </a:extLst>
          </p:cNvPr>
          <p:cNvSpPr/>
          <p:nvPr/>
        </p:nvSpPr>
        <p:spPr>
          <a:xfrm>
            <a:off x="8438358" y="2081734"/>
            <a:ext cx="735496" cy="695740"/>
          </a:xfrm>
          <a:prstGeom prst="ellipse">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C3D11E0D-CC03-BDB9-E943-CFFFBF2D4314}"/>
              </a:ext>
            </a:extLst>
          </p:cNvPr>
          <p:cNvCxnSpPr>
            <a:cxnSpLocks/>
          </p:cNvCxnSpPr>
          <p:nvPr/>
        </p:nvCxnSpPr>
        <p:spPr>
          <a:xfrm flipV="1">
            <a:off x="6857190" y="2923340"/>
            <a:ext cx="325641" cy="311792"/>
          </a:xfrm>
          <a:prstGeom prst="line">
            <a:avLst/>
          </a:prstGeom>
          <a:ln w="9525">
            <a:solidFill>
              <a:schemeClr val="accent6">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EDA3780-5CC0-D3BA-A60B-29356E479526}"/>
              </a:ext>
            </a:extLst>
          </p:cNvPr>
          <p:cNvCxnSpPr>
            <a:cxnSpLocks/>
            <a:endCxn id="8" idx="2"/>
          </p:cNvCxnSpPr>
          <p:nvPr/>
        </p:nvCxnSpPr>
        <p:spPr>
          <a:xfrm>
            <a:off x="7035466" y="3622869"/>
            <a:ext cx="827421" cy="136445"/>
          </a:xfrm>
          <a:prstGeom prst="line">
            <a:avLst/>
          </a:prstGeom>
          <a:ln w="9525">
            <a:solidFill>
              <a:schemeClr val="accent6">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A1B40B4-AC9D-E175-0DA9-F0AE58D48990}"/>
              </a:ext>
            </a:extLst>
          </p:cNvPr>
          <p:cNvCxnSpPr>
            <a:cxnSpLocks/>
          </p:cNvCxnSpPr>
          <p:nvPr/>
        </p:nvCxnSpPr>
        <p:spPr>
          <a:xfrm flipV="1">
            <a:off x="8382000" y="2777474"/>
            <a:ext cx="302173" cy="651526"/>
          </a:xfrm>
          <a:prstGeom prst="line">
            <a:avLst/>
          </a:prstGeom>
          <a:ln w="9525">
            <a:solidFill>
              <a:schemeClr val="accent6">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7A8D01A-F602-F183-46AF-A4E9226DB144}"/>
              </a:ext>
            </a:extLst>
          </p:cNvPr>
          <p:cNvSpPr txBox="1"/>
          <p:nvPr/>
        </p:nvSpPr>
        <p:spPr>
          <a:xfrm>
            <a:off x="6444898" y="3267315"/>
            <a:ext cx="412292" cy="461665"/>
          </a:xfrm>
          <a:prstGeom prst="rect">
            <a:avLst/>
          </a:prstGeom>
          <a:noFill/>
        </p:spPr>
        <p:txBody>
          <a:bodyPr wrap="square" rtlCol="0">
            <a:spAutoFit/>
          </a:bodyPr>
          <a:lstStyle/>
          <a:p>
            <a:r>
              <a:rPr lang="en-US" sz="2400" b="1" dirty="0">
                <a:latin typeface="+mj-lt"/>
              </a:rPr>
              <a:t>s</a:t>
            </a:r>
            <a:r>
              <a:rPr lang="en-US" sz="2400" b="1" baseline="-25000" dirty="0">
                <a:latin typeface="+mj-lt"/>
              </a:rPr>
              <a:t>0</a:t>
            </a:r>
            <a:endParaRPr lang="en-US" sz="2400" b="1" dirty="0">
              <a:latin typeface="+mj-lt"/>
            </a:endParaRPr>
          </a:p>
        </p:txBody>
      </p:sp>
      <p:sp>
        <p:nvSpPr>
          <p:cNvPr id="23" name="TextBox 22">
            <a:extLst>
              <a:ext uri="{FF2B5EF4-FFF2-40B4-BE49-F238E27FC236}">
                <a16:creationId xmlns:a16="http://schemas.microsoft.com/office/drawing/2014/main" id="{F825A70F-AEBC-68B4-8309-6070DCFCC4C7}"/>
              </a:ext>
            </a:extLst>
          </p:cNvPr>
          <p:cNvSpPr txBox="1"/>
          <p:nvPr/>
        </p:nvSpPr>
        <p:spPr>
          <a:xfrm>
            <a:off x="8041163" y="3528481"/>
            <a:ext cx="412292" cy="461665"/>
          </a:xfrm>
          <a:prstGeom prst="rect">
            <a:avLst/>
          </a:prstGeom>
          <a:noFill/>
        </p:spPr>
        <p:txBody>
          <a:bodyPr wrap="square" rtlCol="0">
            <a:spAutoFit/>
          </a:bodyPr>
          <a:lstStyle/>
          <a:p>
            <a:r>
              <a:rPr lang="en-US" sz="2400" b="1" dirty="0">
                <a:latin typeface="+mj-lt"/>
              </a:rPr>
              <a:t>s</a:t>
            </a:r>
            <a:r>
              <a:rPr lang="en-US" sz="2400" b="1" baseline="-25000" dirty="0">
                <a:latin typeface="+mj-lt"/>
              </a:rPr>
              <a:t>1</a:t>
            </a:r>
            <a:endParaRPr lang="en-US" sz="2400" b="1" dirty="0">
              <a:latin typeface="+mj-lt"/>
            </a:endParaRPr>
          </a:p>
        </p:txBody>
      </p:sp>
      <p:sp>
        <p:nvSpPr>
          <p:cNvPr id="24" name="TextBox 23">
            <a:extLst>
              <a:ext uri="{FF2B5EF4-FFF2-40B4-BE49-F238E27FC236}">
                <a16:creationId xmlns:a16="http://schemas.microsoft.com/office/drawing/2014/main" id="{264308D9-94D5-D522-47F2-5C18647CF66E}"/>
              </a:ext>
            </a:extLst>
          </p:cNvPr>
          <p:cNvSpPr txBox="1"/>
          <p:nvPr/>
        </p:nvSpPr>
        <p:spPr>
          <a:xfrm>
            <a:off x="8599960" y="2150113"/>
            <a:ext cx="412292" cy="461665"/>
          </a:xfrm>
          <a:prstGeom prst="rect">
            <a:avLst/>
          </a:prstGeom>
          <a:noFill/>
        </p:spPr>
        <p:txBody>
          <a:bodyPr wrap="square" rtlCol="0">
            <a:spAutoFit/>
          </a:bodyPr>
          <a:lstStyle/>
          <a:p>
            <a:r>
              <a:rPr lang="en-US" sz="2400" b="1" dirty="0">
                <a:latin typeface="+mj-lt"/>
              </a:rPr>
              <a:t>s</a:t>
            </a:r>
            <a:r>
              <a:rPr lang="en-US" sz="2400" b="1" baseline="-25000" dirty="0">
                <a:latin typeface="+mj-lt"/>
              </a:rPr>
              <a:t>2</a:t>
            </a:r>
            <a:endParaRPr lang="en-US" sz="2400" b="1" dirty="0">
              <a:latin typeface="+mj-lt"/>
            </a:endParaRPr>
          </a:p>
        </p:txBody>
      </p:sp>
      <p:sp>
        <p:nvSpPr>
          <p:cNvPr id="25" name="TextBox 24">
            <a:extLst>
              <a:ext uri="{FF2B5EF4-FFF2-40B4-BE49-F238E27FC236}">
                <a16:creationId xmlns:a16="http://schemas.microsoft.com/office/drawing/2014/main" id="{A09E8225-FE7D-665B-5DEA-71676ABA2565}"/>
              </a:ext>
            </a:extLst>
          </p:cNvPr>
          <p:cNvSpPr txBox="1"/>
          <p:nvPr/>
        </p:nvSpPr>
        <p:spPr>
          <a:xfrm>
            <a:off x="7100341" y="2463649"/>
            <a:ext cx="864553" cy="338554"/>
          </a:xfrm>
          <a:prstGeom prst="rect">
            <a:avLst/>
          </a:prstGeom>
          <a:noFill/>
        </p:spPr>
        <p:txBody>
          <a:bodyPr wrap="square" rtlCol="0">
            <a:spAutoFit/>
          </a:bodyPr>
          <a:lstStyle/>
          <a:p>
            <a:r>
              <a:rPr lang="en-US" sz="1600" b="1" dirty="0"/>
              <a:t>reject</a:t>
            </a:r>
          </a:p>
        </p:txBody>
      </p:sp>
      <p:sp>
        <p:nvSpPr>
          <p:cNvPr id="46" name="Oval 45">
            <a:extLst>
              <a:ext uri="{FF2B5EF4-FFF2-40B4-BE49-F238E27FC236}">
                <a16:creationId xmlns:a16="http://schemas.microsoft.com/office/drawing/2014/main" id="{5A89C0B9-B8EB-2152-B708-0D1B74966E3F}"/>
              </a:ext>
            </a:extLst>
          </p:cNvPr>
          <p:cNvSpPr/>
          <p:nvPr/>
        </p:nvSpPr>
        <p:spPr>
          <a:xfrm>
            <a:off x="9659656" y="3748939"/>
            <a:ext cx="154699" cy="14131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7" name="Oval 46">
            <a:extLst>
              <a:ext uri="{FF2B5EF4-FFF2-40B4-BE49-F238E27FC236}">
                <a16:creationId xmlns:a16="http://schemas.microsoft.com/office/drawing/2014/main" id="{B208D7B0-F39F-2685-6508-AF759EAFD263}"/>
              </a:ext>
            </a:extLst>
          </p:cNvPr>
          <p:cNvSpPr/>
          <p:nvPr/>
        </p:nvSpPr>
        <p:spPr>
          <a:xfrm>
            <a:off x="9659656" y="2383180"/>
            <a:ext cx="154699" cy="14131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8" name="Oval 47">
            <a:extLst>
              <a:ext uri="{FF2B5EF4-FFF2-40B4-BE49-F238E27FC236}">
                <a16:creationId xmlns:a16="http://schemas.microsoft.com/office/drawing/2014/main" id="{88D3C763-2E26-648B-7CD8-EDDB68A350DB}"/>
              </a:ext>
            </a:extLst>
          </p:cNvPr>
          <p:cNvSpPr/>
          <p:nvPr/>
        </p:nvSpPr>
        <p:spPr>
          <a:xfrm>
            <a:off x="9659655" y="3488159"/>
            <a:ext cx="154699" cy="14131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pic>
        <p:nvPicPr>
          <p:cNvPr id="55" name="Picture 54">
            <a:extLst>
              <a:ext uri="{FF2B5EF4-FFF2-40B4-BE49-F238E27FC236}">
                <a16:creationId xmlns:a16="http://schemas.microsoft.com/office/drawing/2014/main" id="{1FEA9227-A51F-46DF-A43C-E0ABF23E366E}"/>
              </a:ext>
            </a:extLst>
          </p:cNvPr>
          <p:cNvPicPr>
            <a:picLocks noChangeAspect="1"/>
          </p:cNvPicPr>
          <p:nvPr/>
        </p:nvPicPr>
        <p:blipFill rotWithShape="1">
          <a:blip r:embed="rId4"/>
          <a:srcRect r="27985" b="72109"/>
          <a:stretch/>
        </p:blipFill>
        <p:spPr>
          <a:xfrm>
            <a:off x="702453" y="1781033"/>
            <a:ext cx="4526370" cy="1029200"/>
          </a:xfrm>
          <a:prstGeom prst="rect">
            <a:avLst/>
          </a:prstGeom>
        </p:spPr>
      </p:pic>
      <p:pic>
        <p:nvPicPr>
          <p:cNvPr id="56" name="Picture 55">
            <a:extLst>
              <a:ext uri="{FF2B5EF4-FFF2-40B4-BE49-F238E27FC236}">
                <a16:creationId xmlns:a16="http://schemas.microsoft.com/office/drawing/2014/main" id="{C0B8E4AD-BD2E-C456-FD0C-6A8C12C6B4C2}"/>
              </a:ext>
            </a:extLst>
          </p:cNvPr>
          <p:cNvPicPr>
            <a:picLocks noChangeAspect="1"/>
          </p:cNvPicPr>
          <p:nvPr/>
        </p:nvPicPr>
        <p:blipFill rotWithShape="1">
          <a:blip r:embed="rId4"/>
          <a:srcRect t="43314" r="12955" b="30766"/>
          <a:stretch/>
        </p:blipFill>
        <p:spPr>
          <a:xfrm>
            <a:off x="701793" y="4139742"/>
            <a:ext cx="5471091" cy="956488"/>
          </a:xfrm>
          <a:prstGeom prst="rect">
            <a:avLst/>
          </a:prstGeom>
        </p:spPr>
      </p:pic>
      <p:pic>
        <p:nvPicPr>
          <p:cNvPr id="57" name="Picture 56">
            <a:extLst>
              <a:ext uri="{FF2B5EF4-FFF2-40B4-BE49-F238E27FC236}">
                <a16:creationId xmlns:a16="http://schemas.microsoft.com/office/drawing/2014/main" id="{BA412E18-C46A-AA5E-E378-AEAF08E82A3B}"/>
              </a:ext>
            </a:extLst>
          </p:cNvPr>
          <p:cNvPicPr>
            <a:picLocks noChangeAspect="1"/>
          </p:cNvPicPr>
          <p:nvPr/>
        </p:nvPicPr>
        <p:blipFill rotWithShape="1">
          <a:blip r:embed="rId4"/>
          <a:srcRect t="81146"/>
          <a:stretch/>
        </p:blipFill>
        <p:spPr>
          <a:xfrm>
            <a:off x="701793" y="5434480"/>
            <a:ext cx="6285356" cy="695741"/>
          </a:xfrm>
          <a:prstGeom prst="rect">
            <a:avLst/>
          </a:prstGeom>
        </p:spPr>
      </p:pic>
      <p:pic>
        <p:nvPicPr>
          <p:cNvPr id="58" name="Picture 57">
            <a:extLst>
              <a:ext uri="{FF2B5EF4-FFF2-40B4-BE49-F238E27FC236}">
                <a16:creationId xmlns:a16="http://schemas.microsoft.com/office/drawing/2014/main" id="{A087B401-6D65-3D82-36A5-14492EFA633D}"/>
              </a:ext>
            </a:extLst>
          </p:cNvPr>
          <p:cNvPicPr>
            <a:picLocks noChangeAspect="1"/>
          </p:cNvPicPr>
          <p:nvPr/>
        </p:nvPicPr>
        <p:blipFill rotWithShape="1">
          <a:blip r:embed="rId4"/>
          <a:srcRect t="69233" b="17457"/>
          <a:stretch/>
        </p:blipFill>
        <p:spPr>
          <a:xfrm>
            <a:off x="2153002" y="4980946"/>
            <a:ext cx="6285356" cy="491163"/>
          </a:xfrm>
          <a:prstGeom prst="rect">
            <a:avLst/>
          </a:prstGeom>
        </p:spPr>
      </p:pic>
      <p:pic>
        <p:nvPicPr>
          <p:cNvPr id="1037" name="Picture 1036">
            <a:extLst>
              <a:ext uri="{FF2B5EF4-FFF2-40B4-BE49-F238E27FC236}">
                <a16:creationId xmlns:a16="http://schemas.microsoft.com/office/drawing/2014/main" id="{13CE74A5-0AE6-2FF7-305F-1E577E98383B}"/>
              </a:ext>
            </a:extLst>
          </p:cNvPr>
          <p:cNvPicPr>
            <a:picLocks noChangeAspect="1"/>
          </p:cNvPicPr>
          <p:nvPr/>
        </p:nvPicPr>
        <p:blipFill rotWithShape="1">
          <a:blip r:embed="rId4"/>
          <a:srcRect l="-1" t="26878" r="59291" b="61244"/>
          <a:stretch/>
        </p:blipFill>
        <p:spPr>
          <a:xfrm>
            <a:off x="701793" y="2926565"/>
            <a:ext cx="2558769" cy="438329"/>
          </a:xfrm>
          <a:prstGeom prst="rect">
            <a:avLst/>
          </a:prstGeom>
        </p:spPr>
      </p:pic>
      <p:pic>
        <p:nvPicPr>
          <p:cNvPr id="1038" name="Picture 1037">
            <a:extLst>
              <a:ext uri="{FF2B5EF4-FFF2-40B4-BE49-F238E27FC236}">
                <a16:creationId xmlns:a16="http://schemas.microsoft.com/office/drawing/2014/main" id="{5D6C2460-3282-E557-A9DF-8DDA546DAE33}"/>
              </a:ext>
            </a:extLst>
          </p:cNvPr>
          <p:cNvPicPr>
            <a:picLocks noChangeAspect="1"/>
          </p:cNvPicPr>
          <p:nvPr/>
        </p:nvPicPr>
        <p:blipFill rotWithShape="1">
          <a:blip r:embed="rId4"/>
          <a:srcRect l="39361" t="26878" r="12955" b="58136"/>
          <a:stretch/>
        </p:blipFill>
        <p:spPr>
          <a:xfrm>
            <a:off x="2116800" y="3466198"/>
            <a:ext cx="2997071" cy="552997"/>
          </a:xfrm>
          <a:prstGeom prst="rect">
            <a:avLst/>
          </a:prstGeom>
        </p:spPr>
      </p:pic>
      <p:cxnSp>
        <p:nvCxnSpPr>
          <p:cNvPr id="1040" name="Straight Connector 1039">
            <a:extLst>
              <a:ext uri="{FF2B5EF4-FFF2-40B4-BE49-F238E27FC236}">
                <a16:creationId xmlns:a16="http://schemas.microsoft.com/office/drawing/2014/main" id="{1EF3CB74-651D-EFEA-206B-935DF04D5D62}"/>
              </a:ext>
            </a:extLst>
          </p:cNvPr>
          <p:cNvCxnSpPr>
            <a:cxnSpLocks/>
          </p:cNvCxnSpPr>
          <p:nvPr/>
        </p:nvCxnSpPr>
        <p:spPr>
          <a:xfrm>
            <a:off x="8684173" y="3820274"/>
            <a:ext cx="975482" cy="0"/>
          </a:xfrm>
          <a:prstGeom prst="line">
            <a:avLst/>
          </a:prstGeom>
          <a:ln w="1270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042" name="Straight Connector 1041">
            <a:extLst>
              <a:ext uri="{FF2B5EF4-FFF2-40B4-BE49-F238E27FC236}">
                <a16:creationId xmlns:a16="http://schemas.microsoft.com/office/drawing/2014/main" id="{CD0996DC-4A22-AC60-B1AB-CC897C1D2967}"/>
              </a:ext>
            </a:extLst>
          </p:cNvPr>
          <p:cNvCxnSpPr>
            <a:cxnSpLocks/>
          </p:cNvCxnSpPr>
          <p:nvPr/>
        </p:nvCxnSpPr>
        <p:spPr>
          <a:xfrm>
            <a:off x="9265920" y="2449539"/>
            <a:ext cx="407806" cy="0"/>
          </a:xfrm>
          <a:prstGeom prst="line">
            <a:avLst/>
          </a:prstGeom>
          <a:ln w="12700">
            <a:solidFill>
              <a:schemeClr val="accent3"/>
            </a:solidFill>
            <a:prstDash val="dash"/>
          </a:ln>
        </p:spPr>
        <p:style>
          <a:lnRef idx="1">
            <a:schemeClr val="accent1"/>
          </a:lnRef>
          <a:fillRef idx="0">
            <a:schemeClr val="accent1"/>
          </a:fillRef>
          <a:effectRef idx="0">
            <a:schemeClr val="accent1"/>
          </a:effectRef>
          <a:fontRef idx="minor">
            <a:schemeClr val="tx1"/>
          </a:fontRef>
        </p:style>
      </p:cxnSp>
      <p:pic>
        <p:nvPicPr>
          <p:cNvPr id="1050" name="Picture 1049">
            <a:extLst>
              <a:ext uri="{FF2B5EF4-FFF2-40B4-BE49-F238E27FC236}">
                <a16:creationId xmlns:a16="http://schemas.microsoft.com/office/drawing/2014/main" id="{FA0A419D-C57D-6F66-B38E-A8AE5F2BA9F2}"/>
              </a:ext>
            </a:extLst>
          </p:cNvPr>
          <p:cNvPicPr>
            <a:picLocks noChangeAspect="1"/>
          </p:cNvPicPr>
          <p:nvPr/>
        </p:nvPicPr>
        <p:blipFill rotWithShape="1">
          <a:blip r:embed="rId5"/>
          <a:srcRect l="49522" t="56891" r="35705" b="7845"/>
          <a:stretch/>
        </p:blipFill>
        <p:spPr>
          <a:xfrm>
            <a:off x="11344414" y="1617065"/>
            <a:ext cx="447040" cy="327935"/>
          </a:xfrm>
          <a:prstGeom prst="rect">
            <a:avLst/>
          </a:prstGeom>
        </p:spPr>
      </p:pic>
    </p:spTree>
    <p:extLst>
      <p:ext uri="{BB962C8B-B14F-4D97-AF65-F5344CB8AC3E}">
        <p14:creationId xmlns:p14="http://schemas.microsoft.com/office/powerpoint/2010/main" val="1423608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BDD5D-469B-A475-948C-680D78F1E73C}"/>
              </a:ext>
            </a:extLst>
          </p:cNvPr>
          <p:cNvSpPr>
            <a:spLocks noGrp="1"/>
          </p:cNvSpPr>
          <p:nvPr>
            <p:ph type="title"/>
          </p:nvPr>
        </p:nvSpPr>
        <p:spPr/>
        <p:txBody>
          <a:bodyPr/>
          <a:lstStyle/>
          <a:p>
            <a:r>
              <a:rPr lang="en-US" dirty="0"/>
              <a:t>Quantum proposal</a:t>
            </a:r>
          </a:p>
        </p:txBody>
      </p:sp>
      <p:sp>
        <p:nvSpPr>
          <p:cNvPr id="3" name="Date Placeholder 2">
            <a:extLst>
              <a:ext uri="{FF2B5EF4-FFF2-40B4-BE49-F238E27FC236}">
                <a16:creationId xmlns:a16="http://schemas.microsoft.com/office/drawing/2014/main" id="{CDB7DD79-05B6-155C-67E9-1C8778C8648B}"/>
              </a:ext>
            </a:extLst>
          </p:cNvPr>
          <p:cNvSpPr>
            <a:spLocks noGrp="1"/>
          </p:cNvSpPr>
          <p:nvPr>
            <p:ph type="dt" sz="half" idx="10"/>
          </p:nvPr>
        </p:nvSpPr>
        <p:spPr/>
        <p:txBody>
          <a:bodyPr/>
          <a:lstStyle/>
          <a:p>
            <a:fld id="{2745749C-F65A-474D-A9EB-F676E70F66CD}" type="datetime1">
              <a:rPr lang="en-US" smtClean="0"/>
              <a:t>7/17/2024</a:t>
            </a:fld>
            <a:endParaRPr lang="en-US"/>
          </a:p>
        </p:txBody>
      </p:sp>
      <p:pic>
        <p:nvPicPr>
          <p:cNvPr id="12" name="Picture 11">
            <a:extLst>
              <a:ext uri="{FF2B5EF4-FFF2-40B4-BE49-F238E27FC236}">
                <a16:creationId xmlns:a16="http://schemas.microsoft.com/office/drawing/2014/main" id="{C7111AFC-8945-5B92-FBD5-CC7CF8991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9562" y="2333940"/>
            <a:ext cx="5152107" cy="3364642"/>
          </a:xfrm>
          <a:prstGeom prst="rect">
            <a:avLst/>
          </a:prstGeom>
        </p:spPr>
      </p:pic>
      <p:sp>
        <p:nvSpPr>
          <p:cNvPr id="5" name="Slide Number Placeholder 4">
            <a:extLst>
              <a:ext uri="{FF2B5EF4-FFF2-40B4-BE49-F238E27FC236}">
                <a16:creationId xmlns:a16="http://schemas.microsoft.com/office/drawing/2014/main" id="{31B94707-A540-0146-2132-7CCC57AE473D}"/>
              </a:ext>
            </a:extLst>
          </p:cNvPr>
          <p:cNvSpPr>
            <a:spLocks noGrp="1"/>
          </p:cNvSpPr>
          <p:nvPr>
            <p:ph type="sldNum" sz="quarter" idx="12"/>
          </p:nvPr>
        </p:nvSpPr>
        <p:spPr/>
        <p:txBody>
          <a:bodyPr/>
          <a:lstStyle/>
          <a:p>
            <a:fld id="{B1254B9F-6C8D-48FB-9BF4-CF6E84C56BB7}" type="slidenum">
              <a:rPr lang="en-US" smtClean="0"/>
              <a:t>5</a:t>
            </a:fld>
            <a:endParaRPr lang="en-US"/>
          </a:p>
        </p:txBody>
      </p:sp>
      <p:pic>
        <p:nvPicPr>
          <p:cNvPr id="7" name="Picture 6">
            <a:extLst>
              <a:ext uri="{FF2B5EF4-FFF2-40B4-BE49-F238E27FC236}">
                <a16:creationId xmlns:a16="http://schemas.microsoft.com/office/drawing/2014/main" id="{19B3FB94-A44F-2228-D936-F5C296B99346}"/>
              </a:ext>
            </a:extLst>
          </p:cNvPr>
          <p:cNvPicPr>
            <a:picLocks noChangeAspect="1"/>
          </p:cNvPicPr>
          <p:nvPr/>
        </p:nvPicPr>
        <p:blipFill rotWithShape="1">
          <a:blip r:embed="rId4"/>
          <a:srcRect b="43061"/>
          <a:stretch/>
        </p:blipFill>
        <p:spPr>
          <a:xfrm>
            <a:off x="838200" y="1901690"/>
            <a:ext cx="4485640" cy="2595680"/>
          </a:xfrm>
          <a:prstGeom prst="rect">
            <a:avLst/>
          </a:prstGeom>
        </p:spPr>
      </p:pic>
      <p:pic>
        <p:nvPicPr>
          <p:cNvPr id="8" name="Picture 7">
            <a:extLst>
              <a:ext uri="{FF2B5EF4-FFF2-40B4-BE49-F238E27FC236}">
                <a16:creationId xmlns:a16="http://schemas.microsoft.com/office/drawing/2014/main" id="{25E28CA3-556C-9513-7D97-1CCDB08B05EE}"/>
              </a:ext>
            </a:extLst>
          </p:cNvPr>
          <p:cNvPicPr>
            <a:picLocks noChangeAspect="1"/>
          </p:cNvPicPr>
          <p:nvPr/>
        </p:nvPicPr>
        <p:blipFill rotWithShape="1">
          <a:blip r:embed="rId4"/>
          <a:srcRect t="92123"/>
          <a:stretch/>
        </p:blipFill>
        <p:spPr>
          <a:xfrm>
            <a:off x="7068953" y="1901690"/>
            <a:ext cx="4485641" cy="359110"/>
          </a:xfrm>
          <a:prstGeom prst="rect">
            <a:avLst/>
          </a:prstGeom>
        </p:spPr>
      </p:pic>
      <p:pic>
        <p:nvPicPr>
          <p:cNvPr id="9" name="Picture 8">
            <a:extLst>
              <a:ext uri="{FF2B5EF4-FFF2-40B4-BE49-F238E27FC236}">
                <a16:creationId xmlns:a16="http://schemas.microsoft.com/office/drawing/2014/main" id="{E9A0AA49-BB77-6972-349F-85D255C5A641}"/>
              </a:ext>
            </a:extLst>
          </p:cNvPr>
          <p:cNvPicPr>
            <a:picLocks noChangeAspect="1"/>
          </p:cNvPicPr>
          <p:nvPr/>
        </p:nvPicPr>
        <p:blipFill rotWithShape="1">
          <a:blip r:embed="rId4"/>
          <a:srcRect l="42217" t="63187" b="24256"/>
          <a:stretch/>
        </p:blipFill>
        <p:spPr>
          <a:xfrm>
            <a:off x="1169817" y="4665616"/>
            <a:ext cx="3306124" cy="730148"/>
          </a:xfrm>
          <a:prstGeom prst="rect">
            <a:avLst/>
          </a:prstGeom>
        </p:spPr>
      </p:pic>
      <p:pic>
        <p:nvPicPr>
          <p:cNvPr id="10" name="Picture 9">
            <a:extLst>
              <a:ext uri="{FF2B5EF4-FFF2-40B4-BE49-F238E27FC236}">
                <a16:creationId xmlns:a16="http://schemas.microsoft.com/office/drawing/2014/main" id="{BE9E293E-B724-E5D6-E497-7F74C660DDF4}"/>
              </a:ext>
            </a:extLst>
          </p:cNvPr>
          <p:cNvPicPr>
            <a:picLocks noChangeAspect="1"/>
          </p:cNvPicPr>
          <p:nvPr/>
        </p:nvPicPr>
        <p:blipFill rotWithShape="1">
          <a:blip r:embed="rId4"/>
          <a:srcRect t="81699" r="50000" b="7418"/>
          <a:stretch/>
        </p:blipFill>
        <p:spPr>
          <a:xfrm>
            <a:off x="1493565" y="5289323"/>
            <a:ext cx="2242821" cy="496113"/>
          </a:xfrm>
          <a:prstGeom prst="rect">
            <a:avLst/>
          </a:prstGeom>
        </p:spPr>
      </p:pic>
    </p:spTree>
    <p:extLst>
      <p:ext uri="{BB962C8B-B14F-4D97-AF65-F5344CB8AC3E}">
        <p14:creationId xmlns:p14="http://schemas.microsoft.com/office/powerpoint/2010/main" val="2296906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4CE92-82B5-FFE3-BE3C-E88D1AA0B177}"/>
              </a:ext>
            </a:extLst>
          </p:cNvPr>
          <p:cNvSpPr>
            <a:spLocks noGrp="1"/>
          </p:cNvSpPr>
          <p:nvPr>
            <p:ph type="title"/>
          </p:nvPr>
        </p:nvSpPr>
        <p:spPr/>
        <p:txBody>
          <a:bodyPr/>
          <a:lstStyle/>
          <a:p>
            <a:r>
              <a:rPr lang="en-US" dirty="0"/>
              <a:t>Parameter grid search</a:t>
            </a:r>
          </a:p>
        </p:txBody>
      </p:sp>
      <p:sp>
        <p:nvSpPr>
          <p:cNvPr id="3" name="Date Placeholder 2">
            <a:extLst>
              <a:ext uri="{FF2B5EF4-FFF2-40B4-BE49-F238E27FC236}">
                <a16:creationId xmlns:a16="http://schemas.microsoft.com/office/drawing/2014/main" id="{D83CD533-39DB-F9B6-0C02-9CBF547ACB2D}"/>
              </a:ext>
            </a:extLst>
          </p:cNvPr>
          <p:cNvSpPr>
            <a:spLocks noGrp="1"/>
          </p:cNvSpPr>
          <p:nvPr>
            <p:ph type="dt" sz="half" idx="10"/>
          </p:nvPr>
        </p:nvSpPr>
        <p:spPr/>
        <p:txBody>
          <a:bodyPr/>
          <a:lstStyle/>
          <a:p>
            <a:fld id="{E1574950-6A15-4B1F-8D1D-D2D9059029C7}" type="datetime1">
              <a:rPr lang="en-US" smtClean="0"/>
              <a:t>7/17/2024</a:t>
            </a:fld>
            <a:endParaRPr lang="en-US"/>
          </a:p>
        </p:txBody>
      </p:sp>
      <p:pic>
        <p:nvPicPr>
          <p:cNvPr id="8" name="Picture 7">
            <a:extLst>
              <a:ext uri="{FF2B5EF4-FFF2-40B4-BE49-F238E27FC236}">
                <a16:creationId xmlns:a16="http://schemas.microsoft.com/office/drawing/2014/main" id="{17F8DB6D-A8B2-8A64-3E13-A3BE37626A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3021" y="2234295"/>
            <a:ext cx="3979754" cy="2463867"/>
          </a:xfrm>
          <a:prstGeom prst="rect">
            <a:avLst/>
          </a:prstGeom>
        </p:spPr>
      </p:pic>
      <p:sp>
        <p:nvSpPr>
          <p:cNvPr id="15" name="Slide Number Placeholder 14">
            <a:extLst>
              <a:ext uri="{FF2B5EF4-FFF2-40B4-BE49-F238E27FC236}">
                <a16:creationId xmlns:a16="http://schemas.microsoft.com/office/drawing/2014/main" id="{BCFB71E2-901F-EC95-3AFA-4BF37988C4C1}"/>
              </a:ext>
            </a:extLst>
          </p:cNvPr>
          <p:cNvSpPr>
            <a:spLocks noGrp="1"/>
          </p:cNvSpPr>
          <p:nvPr>
            <p:ph type="sldNum" sz="quarter" idx="12"/>
          </p:nvPr>
        </p:nvSpPr>
        <p:spPr/>
        <p:txBody>
          <a:bodyPr/>
          <a:lstStyle/>
          <a:p>
            <a:fld id="{B1254B9F-6C8D-48FB-9BF4-CF6E84C56BB7}" type="slidenum">
              <a:rPr lang="en-US" smtClean="0"/>
              <a:t>6</a:t>
            </a:fld>
            <a:endParaRPr lang="en-US"/>
          </a:p>
        </p:txBody>
      </p:sp>
      <p:pic>
        <p:nvPicPr>
          <p:cNvPr id="16" name="Picture 15">
            <a:extLst>
              <a:ext uri="{FF2B5EF4-FFF2-40B4-BE49-F238E27FC236}">
                <a16:creationId xmlns:a16="http://schemas.microsoft.com/office/drawing/2014/main" id="{82B66109-3700-91D6-47AA-576C2C2C2A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7652" y="2234295"/>
            <a:ext cx="3993014" cy="2463867"/>
          </a:xfrm>
          <a:prstGeom prst="rect">
            <a:avLst/>
          </a:prstGeom>
        </p:spPr>
      </p:pic>
      <p:pic>
        <p:nvPicPr>
          <p:cNvPr id="18" name="Picture 17">
            <a:extLst>
              <a:ext uri="{FF2B5EF4-FFF2-40B4-BE49-F238E27FC236}">
                <a16:creationId xmlns:a16="http://schemas.microsoft.com/office/drawing/2014/main" id="{AB42E850-82AA-E54D-36E9-03FB26DC730E}"/>
              </a:ext>
            </a:extLst>
          </p:cNvPr>
          <p:cNvPicPr>
            <a:picLocks noChangeAspect="1"/>
          </p:cNvPicPr>
          <p:nvPr/>
        </p:nvPicPr>
        <p:blipFill>
          <a:blip r:embed="rId5"/>
          <a:stretch>
            <a:fillRect/>
          </a:stretch>
        </p:blipFill>
        <p:spPr>
          <a:xfrm>
            <a:off x="1823021" y="4909050"/>
            <a:ext cx="5125396" cy="1097515"/>
          </a:xfrm>
          <a:prstGeom prst="rect">
            <a:avLst/>
          </a:prstGeom>
        </p:spPr>
      </p:pic>
      <p:pic>
        <p:nvPicPr>
          <p:cNvPr id="19" name="Picture 18">
            <a:extLst>
              <a:ext uri="{FF2B5EF4-FFF2-40B4-BE49-F238E27FC236}">
                <a16:creationId xmlns:a16="http://schemas.microsoft.com/office/drawing/2014/main" id="{38BBB81F-4451-4CAD-907E-8586649C493D}"/>
              </a:ext>
            </a:extLst>
          </p:cNvPr>
          <p:cNvPicPr>
            <a:picLocks noChangeAspect="1"/>
          </p:cNvPicPr>
          <p:nvPr/>
        </p:nvPicPr>
        <p:blipFill rotWithShape="1">
          <a:blip r:embed="rId6"/>
          <a:srcRect l="42217" t="63187" b="24256"/>
          <a:stretch/>
        </p:blipFill>
        <p:spPr>
          <a:xfrm>
            <a:off x="2512789" y="1725954"/>
            <a:ext cx="2592100" cy="572458"/>
          </a:xfrm>
          <a:prstGeom prst="rect">
            <a:avLst/>
          </a:prstGeom>
        </p:spPr>
      </p:pic>
    </p:spTree>
    <p:extLst>
      <p:ext uri="{BB962C8B-B14F-4D97-AF65-F5344CB8AC3E}">
        <p14:creationId xmlns:p14="http://schemas.microsoft.com/office/powerpoint/2010/main" val="1806470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E5034-A9C4-E0D6-697A-83DFB3F9E061}"/>
              </a:ext>
            </a:extLst>
          </p:cNvPr>
          <p:cNvSpPr>
            <a:spLocks noGrp="1"/>
          </p:cNvSpPr>
          <p:nvPr>
            <p:ph type="title"/>
          </p:nvPr>
        </p:nvSpPr>
        <p:spPr/>
        <p:txBody>
          <a:bodyPr/>
          <a:lstStyle/>
          <a:p>
            <a:r>
              <a:rPr lang="en-US" dirty="0"/>
              <a:t>Locating critical </a:t>
            </a:r>
            <a:r>
              <a:rPr lang="el-GR" i="1" dirty="0">
                <a:solidFill>
                  <a:srgbClr val="1F1F1F"/>
                </a:solidFill>
                <a:effectLst/>
                <a:highlight>
                  <a:srgbClr val="FFFFFF"/>
                </a:highlight>
                <a:latin typeface="Google Sans"/>
              </a:rPr>
              <a:t>γ</a:t>
            </a:r>
            <a:r>
              <a:rPr lang="en-US" dirty="0"/>
              <a:t> value</a:t>
            </a:r>
          </a:p>
        </p:txBody>
      </p:sp>
      <p:sp>
        <p:nvSpPr>
          <p:cNvPr id="3" name="Date Placeholder 2">
            <a:extLst>
              <a:ext uri="{FF2B5EF4-FFF2-40B4-BE49-F238E27FC236}">
                <a16:creationId xmlns:a16="http://schemas.microsoft.com/office/drawing/2014/main" id="{04EC8105-4084-2E2E-9531-63DB48F380C7}"/>
              </a:ext>
            </a:extLst>
          </p:cNvPr>
          <p:cNvSpPr>
            <a:spLocks noGrp="1"/>
          </p:cNvSpPr>
          <p:nvPr>
            <p:ph type="dt" sz="half" idx="10"/>
          </p:nvPr>
        </p:nvSpPr>
        <p:spPr/>
        <p:txBody>
          <a:bodyPr/>
          <a:lstStyle/>
          <a:p>
            <a:fld id="{54B31B6A-6BB1-496A-9A88-A0DEAA7D84AE}" type="datetime1">
              <a:rPr lang="en-US" smtClean="0"/>
              <a:t>7/17/2024</a:t>
            </a:fld>
            <a:endParaRPr lang="en-US"/>
          </a:p>
        </p:txBody>
      </p:sp>
      <p:pic>
        <p:nvPicPr>
          <p:cNvPr id="6" name="Picture 5">
            <a:extLst>
              <a:ext uri="{FF2B5EF4-FFF2-40B4-BE49-F238E27FC236}">
                <a16:creationId xmlns:a16="http://schemas.microsoft.com/office/drawing/2014/main" id="{7464CDCE-E094-9EF8-8739-6419C1C544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8142" y="1828733"/>
            <a:ext cx="4172563" cy="2612243"/>
          </a:xfrm>
          <a:prstGeom prst="rect">
            <a:avLst/>
          </a:prstGeom>
        </p:spPr>
      </p:pic>
      <p:pic>
        <p:nvPicPr>
          <p:cNvPr id="7" name="Picture 6">
            <a:extLst>
              <a:ext uri="{FF2B5EF4-FFF2-40B4-BE49-F238E27FC236}">
                <a16:creationId xmlns:a16="http://schemas.microsoft.com/office/drawing/2014/main" id="{84B66170-AEDF-4043-070A-CAA3CF64AC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0" y="1756203"/>
            <a:ext cx="4233476" cy="2612243"/>
          </a:xfrm>
          <a:prstGeom prst="rect">
            <a:avLst/>
          </a:prstGeom>
        </p:spPr>
      </p:pic>
      <p:sp>
        <p:nvSpPr>
          <p:cNvPr id="8" name="Slide Number Placeholder 7">
            <a:extLst>
              <a:ext uri="{FF2B5EF4-FFF2-40B4-BE49-F238E27FC236}">
                <a16:creationId xmlns:a16="http://schemas.microsoft.com/office/drawing/2014/main" id="{2C8711E3-45D6-9160-916A-6ACDFABF893D}"/>
              </a:ext>
            </a:extLst>
          </p:cNvPr>
          <p:cNvSpPr>
            <a:spLocks noGrp="1"/>
          </p:cNvSpPr>
          <p:nvPr>
            <p:ph type="sldNum" sz="quarter" idx="12"/>
          </p:nvPr>
        </p:nvSpPr>
        <p:spPr/>
        <p:txBody>
          <a:bodyPr/>
          <a:lstStyle/>
          <a:p>
            <a:fld id="{B1254B9F-6C8D-48FB-9BF4-CF6E84C56BB7}" type="slidenum">
              <a:rPr lang="en-US" smtClean="0"/>
              <a:t>7</a:t>
            </a:fld>
            <a:endParaRPr lang="en-US"/>
          </a:p>
        </p:txBody>
      </p:sp>
      <p:pic>
        <p:nvPicPr>
          <p:cNvPr id="9" name="Picture 8">
            <a:extLst>
              <a:ext uri="{FF2B5EF4-FFF2-40B4-BE49-F238E27FC236}">
                <a16:creationId xmlns:a16="http://schemas.microsoft.com/office/drawing/2014/main" id="{409A4971-C138-BC19-FC3A-6771095CC45D}"/>
              </a:ext>
            </a:extLst>
          </p:cNvPr>
          <p:cNvPicPr>
            <a:picLocks noChangeAspect="1"/>
          </p:cNvPicPr>
          <p:nvPr/>
        </p:nvPicPr>
        <p:blipFill>
          <a:blip r:embed="rId5"/>
          <a:stretch>
            <a:fillRect/>
          </a:stretch>
        </p:blipFill>
        <p:spPr>
          <a:xfrm>
            <a:off x="8104588" y="1418160"/>
            <a:ext cx="2051425" cy="364202"/>
          </a:xfrm>
          <a:prstGeom prst="rect">
            <a:avLst/>
          </a:prstGeom>
        </p:spPr>
      </p:pic>
      <p:pic>
        <p:nvPicPr>
          <p:cNvPr id="15" name="Picture 14">
            <a:extLst>
              <a:ext uri="{FF2B5EF4-FFF2-40B4-BE49-F238E27FC236}">
                <a16:creationId xmlns:a16="http://schemas.microsoft.com/office/drawing/2014/main" id="{5A794ECF-5D48-44C6-5FB2-51AAAECE1068}"/>
              </a:ext>
            </a:extLst>
          </p:cNvPr>
          <p:cNvPicPr>
            <a:picLocks noChangeAspect="1"/>
          </p:cNvPicPr>
          <p:nvPr/>
        </p:nvPicPr>
        <p:blipFill>
          <a:blip r:embed="rId6"/>
          <a:stretch>
            <a:fillRect/>
          </a:stretch>
        </p:blipFill>
        <p:spPr>
          <a:xfrm>
            <a:off x="1405360" y="4948859"/>
            <a:ext cx="5805668" cy="899608"/>
          </a:xfrm>
          <a:prstGeom prst="rect">
            <a:avLst/>
          </a:prstGeom>
        </p:spPr>
      </p:pic>
    </p:spTree>
    <p:extLst>
      <p:ext uri="{BB962C8B-B14F-4D97-AF65-F5344CB8AC3E}">
        <p14:creationId xmlns:p14="http://schemas.microsoft.com/office/powerpoint/2010/main" val="590589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6BD7C-7C43-AFE7-DEA1-A97260D77D5B}"/>
              </a:ext>
            </a:extLst>
          </p:cNvPr>
          <p:cNvSpPr>
            <a:spLocks noGrp="1"/>
          </p:cNvSpPr>
          <p:nvPr>
            <p:ph type="title"/>
          </p:nvPr>
        </p:nvSpPr>
        <p:spPr/>
        <p:txBody>
          <a:bodyPr/>
          <a:lstStyle/>
          <a:p>
            <a:r>
              <a:rPr lang="en-US" dirty="0"/>
              <a:t>Fixed near-critical </a:t>
            </a:r>
            <a:r>
              <a:rPr lang="el-GR" i="1" dirty="0">
                <a:solidFill>
                  <a:srgbClr val="1F1F1F"/>
                </a:solidFill>
                <a:effectLst/>
                <a:highlight>
                  <a:srgbClr val="FFFFFF"/>
                </a:highlight>
                <a:latin typeface="Google Sans"/>
              </a:rPr>
              <a:t>γ</a:t>
            </a:r>
            <a:r>
              <a:rPr lang="en-US" dirty="0"/>
              <a:t> </a:t>
            </a:r>
          </a:p>
        </p:txBody>
      </p:sp>
      <p:sp>
        <p:nvSpPr>
          <p:cNvPr id="3" name="Date Placeholder 2">
            <a:extLst>
              <a:ext uri="{FF2B5EF4-FFF2-40B4-BE49-F238E27FC236}">
                <a16:creationId xmlns:a16="http://schemas.microsoft.com/office/drawing/2014/main" id="{797951E7-213C-C7BD-4A7A-86F431F76681}"/>
              </a:ext>
            </a:extLst>
          </p:cNvPr>
          <p:cNvSpPr>
            <a:spLocks noGrp="1"/>
          </p:cNvSpPr>
          <p:nvPr>
            <p:ph type="dt" sz="half" idx="10"/>
          </p:nvPr>
        </p:nvSpPr>
        <p:spPr/>
        <p:txBody>
          <a:bodyPr/>
          <a:lstStyle/>
          <a:p>
            <a:fld id="{85742855-FC17-4523-944D-6C1C637FC0D6}" type="datetime1">
              <a:rPr lang="en-US" smtClean="0"/>
              <a:t>7/17/2024</a:t>
            </a:fld>
            <a:endParaRPr lang="en-US"/>
          </a:p>
        </p:txBody>
      </p:sp>
      <p:sp>
        <p:nvSpPr>
          <p:cNvPr id="4" name="Slide Number Placeholder 3">
            <a:extLst>
              <a:ext uri="{FF2B5EF4-FFF2-40B4-BE49-F238E27FC236}">
                <a16:creationId xmlns:a16="http://schemas.microsoft.com/office/drawing/2014/main" id="{42ADEE9C-399A-E7F4-C1F0-8243BDB20AA7}"/>
              </a:ext>
            </a:extLst>
          </p:cNvPr>
          <p:cNvSpPr>
            <a:spLocks noGrp="1"/>
          </p:cNvSpPr>
          <p:nvPr>
            <p:ph type="sldNum" sz="quarter" idx="12"/>
          </p:nvPr>
        </p:nvSpPr>
        <p:spPr/>
        <p:txBody>
          <a:bodyPr/>
          <a:lstStyle/>
          <a:p>
            <a:fld id="{B1254B9F-6C8D-48FB-9BF4-CF6E84C56BB7}" type="slidenum">
              <a:rPr lang="en-US" smtClean="0"/>
              <a:t>8</a:t>
            </a:fld>
            <a:endParaRPr lang="en-US"/>
          </a:p>
        </p:txBody>
      </p:sp>
      <p:pic>
        <p:nvPicPr>
          <p:cNvPr id="5" name="Picture 4">
            <a:extLst>
              <a:ext uri="{FF2B5EF4-FFF2-40B4-BE49-F238E27FC236}">
                <a16:creationId xmlns:a16="http://schemas.microsoft.com/office/drawing/2014/main" id="{8D22BDC8-1472-9448-21AD-E41E473B6E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6704" y="2285582"/>
            <a:ext cx="4781152" cy="3125833"/>
          </a:xfrm>
          <a:prstGeom prst="rect">
            <a:avLst/>
          </a:prstGeom>
        </p:spPr>
      </p:pic>
      <p:pic>
        <p:nvPicPr>
          <p:cNvPr id="6" name="Picture 5">
            <a:extLst>
              <a:ext uri="{FF2B5EF4-FFF2-40B4-BE49-F238E27FC236}">
                <a16:creationId xmlns:a16="http://schemas.microsoft.com/office/drawing/2014/main" id="{27B9E37C-955C-CF4E-B798-B2836AD5B3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9575" y="2285582"/>
            <a:ext cx="4786432" cy="3125833"/>
          </a:xfrm>
          <a:prstGeom prst="rect">
            <a:avLst/>
          </a:prstGeom>
        </p:spPr>
      </p:pic>
    </p:spTree>
    <p:extLst>
      <p:ext uri="{BB962C8B-B14F-4D97-AF65-F5344CB8AC3E}">
        <p14:creationId xmlns:p14="http://schemas.microsoft.com/office/powerpoint/2010/main" val="4258048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9D437-CF93-F2DA-E140-365A5CAC31F5}"/>
              </a:ext>
            </a:extLst>
          </p:cNvPr>
          <p:cNvSpPr>
            <a:spLocks noGrp="1"/>
          </p:cNvSpPr>
          <p:nvPr>
            <p:ph type="title"/>
          </p:nvPr>
        </p:nvSpPr>
        <p:spPr/>
        <p:txBody>
          <a:bodyPr/>
          <a:lstStyle/>
          <a:p>
            <a:r>
              <a:rPr lang="en-US" dirty="0"/>
              <a:t>Classically optimized schedules</a:t>
            </a:r>
          </a:p>
        </p:txBody>
      </p:sp>
      <p:sp>
        <p:nvSpPr>
          <p:cNvPr id="3" name="Date Placeholder 2">
            <a:extLst>
              <a:ext uri="{FF2B5EF4-FFF2-40B4-BE49-F238E27FC236}">
                <a16:creationId xmlns:a16="http://schemas.microsoft.com/office/drawing/2014/main" id="{2453E733-2174-8D73-6D5D-DD8CE6F4BF3E}"/>
              </a:ext>
            </a:extLst>
          </p:cNvPr>
          <p:cNvSpPr>
            <a:spLocks noGrp="1"/>
          </p:cNvSpPr>
          <p:nvPr>
            <p:ph type="dt" sz="half" idx="10"/>
          </p:nvPr>
        </p:nvSpPr>
        <p:spPr/>
        <p:txBody>
          <a:bodyPr/>
          <a:lstStyle/>
          <a:p>
            <a:fld id="{07611152-F41F-41BC-AFAE-510D0283DBAD}" type="datetime1">
              <a:rPr lang="en-US" smtClean="0"/>
              <a:t>7/17/2024</a:t>
            </a:fld>
            <a:endParaRPr lang="en-US"/>
          </a:p>
        </p:txBody>
      </p:sp>
      <p:pic>
        <p:nvPicPr>
          <p:cNvPr id="9" name="Picture 8">
            <a:extLst>
              <a:ext uri="{FF2B5EF4-FFF2-40B4-BE49-F238E27FC236}">
                <a16:creationId xmlns:a16="http://schemas.microsoft.com/office/drawing/2014/main" id="{D621D0DE-F27C-D3D9-2B92-DC81F985B2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5857" y="2882691"/>
            <a:ext cx="6096663" cy="3409970"/>
          </a:xfrm>
          <a:prstGeom prst="rect">
            <a:avLst/>
          </a:prstGeom>
        </p:spPr>
      </p:pic>
      <p:sp>
        <p:nvSpPr>
          <p:cNvPr id="5" name="Slide Number Placeholder 4">
            <a:extLst>
              <a:ext uri="{FF2B5EF4-FFF2-40B4-BE49-F238E27FC236}">
                <a16:creationId xmlns:a16="http://schemas.microsoft.com/office/drawing/2014/main" id="{3F981134-27EC-2DDE-80E6-54338607772C}"/>
              </a:ext>
            </a:extLst>
          </p:cNvPr>
          <p:cNvSpPr>
            <a:spLocks noGrp="1"/>
          </p:cNvSpPr>
          <p:nvPr>
            <p:ph type="sldNum" sz="quarter" idx="12"/>
          </p:nvPr>
        </p:nvSpPr>
        <p:spPr/>
        <p:txBody>
          <a:bodyPr/>
          <a:lstStyle/>
          <a:p>
            <a:fld id="{B1254B9F-6C8D-48FB-9BF4-CF6E84C56BB7}" type="slidenum">
              <a:rPr lang="en-US" smtClean="0"/>
              <a:t>9</a:t>
            </a:fld>
            <a:endParaRPr lang="en-US"/>
          </a:p>
        </p:txBody>
      </p:sp>
      <p:pic>
        <p:nvPicPr>
          <p:cNvPr id="7" name="Picture 6">
            <a:extLst>
              <a:ext uri="{FF2B5EF4-FFF2-40B4-BE49-F238E27FC236}">
                <a16:creationId xmlns:a16="http://schemas.microsoft.com/office/drawing/2014/main" id="{FBD4EE0F-4B1D-FF95-0EB3-C016359E828A}"/>
              </a:ext>
            </a:extLst>
          </p:cNvPr>
          <p:cNvPicPr>
            <a:picLocks noChangeAspect="1"/>
          </p:cNvPicPr>
          <p:nvPr/>
        </p:nvPicPr>
        <p:blipFill rotWithShape="1">
          <a:blip r:embed="rId4"/>
          <a:srcRect b="32828"/>
          <a:stretch/>
        </p:blipFill>
        <p:spPr>
          <a:xfrm>
            <a:off x="838200" y="1643777"/>
            <a:ext cx="7202664" cy="1026270"/>
          </a:xfrm>
          <a:prstGeom prst="rect">
            <a:avLst/>
          </a:prstGeom>
        </p:spPr>
      </p:pic>
      <p:pic>
        <p:nvPicPr>
          <p:cNvPr id="8" name="Picture 7">
            <a:extLst>
              <a:ext uri="{FF2B5EF4-FFF2-40B4-BE49-F238E27FC236}">
                <a16:creationId xmlns:a16="http://schemas.microsoft.com/office/drawing/2014/main" id="{7A25A11C-66D8-7C5D-D8E7-FAE35E113A3E}"/>
              </a:ext>
            </a:extLst>
          </p:cNvPr>
          <p:cNvPicPr>
            <a:picLocks noChangeAspect="1"/>
          </p:cNvPicPr>
          <p:nvPr/>
        </p:nvPicPr>
        <p:blipFill rotWithShape="1">
          <a:blip r:embed="rId4"/>
          <a:srcRect t="65949"/>
          <a:stretch/>
        </p:blipFill>
        <p:spPr>
          <a:xfrm>
            <a:off x="4779504" y="2096459"/>
            <a:ext cx="7202664" cy="520248"/>
          </a:xfrm>
          <a:prstGeom prst="rect">
            <a:avLst/>
          </a:prstGeom>
        </p:spPr>
      </p:pic>
    </p:spTree>
    <p:extLst>
      <p:ext uri="{BB962C8B-B14F-4D97-AF65-F5344CB8AC3E}">
        <p14:creationId xmlns:p14="http://schemas.microsoft.com/office/powerpoint/2010/main" val="2921164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A8DAA-D20C-B83B-23E3-231EE62F685E}"/>
              </a:ext>
            </a:extLst>
          </p:cNvPr>
          <p:cNvSpPr>
            <a:spLocks noGrp="1"/>
          </p:cNvSpPr>
          <p:nvPr>
            <p:ph type="title"/>
          </p:nvPr>
        </p:nvSpPr>
        <p:spPr/>
        <p:txBody>
          <a:bodyPr/>
          <a:lstStyle/>
          <a:p>
            <a:r>
              <a:rPr lang="en-US" dirty="0"/>
              <a:t>Performance of optimized schedules</a:t>
            </a:r>
          </a:p>
        </p:txBody>
      </p:sp>
      <p:sp>
        <p:nvSpPr>
          <p:cNvPr id="3" name="Date Placeholder 2">
            <a:extLst>
              <a:ext uri="{FF2B5EF4-FFF2-40B4-BE49-F238E27FC236}">
                <a16:creationId xmlns:a16="http://schemas.microsoft.com/office/drawing/2014/main" id="{C0EBF832-44DA-D8B2-910B-04E2FBFFFB09}"/>
              </a:ext>
            </a:extLst>
          </p:cNvPr>
          <p:cNvSpPr>
            <a:spLocks noGrp="1"/>
          </p:cNvSpPr>
          <p:nvPr>
            <p:ph type="dt" sz="half" idx="10"/>
          </p:nvPr>
        </p:nvSpPr>
        <p:spPr/>
        <p:txBody>
          <a:bodyPr/>
          <a:lstStyle/>
          <a:p>
            <a:fld id="{DB8BEFB9-D1E7-46C9-91B0-CBF12D391EA3}" type="datetime1">
              <a:rPr lang="en-US" smtClean="0"/>
              <a:t>7/17/2024</a:t>
            </a:fld>
            <a:endParaRPr lang="en-US"/>
          </a:p>
        </p:txBody>
      </p:sp>
      <p:pic>
        <p:nvPicPr>
          <p:cNvPr id="14" name="Picture 13">
            <a:extLst>
              <a:ext uri="{FF2B5EF4-FFF2-40B4-BE49-F238E27FC236}">
                <a16:creationId xmlns:a16="http://schemas.microsoft.com/office/drawing/2014/main" id="{E403E580-8521-C222-9D88-3BE659F982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6234" y="2205038"/>
            <a:ext cx="5562954" cy="3636962"/>
          </a:xfrm>
          <a:prstGeom prst="rect">
            <a:avLst/>
          </a:prstGeom>
        </p:spPr>
      </p:pic>
      <p:sp>
        <p:nvSpPr>
          <p:cNvPr id="5" name="Slide Number Placeholder 4">
            <a:extLst>
              <a:ext uri="{FF2B5EF4-FFF2-40B4-BE49-F238E27FC236}">
                <a16:creationId xmlns:a16="http://schemas.microsoft.com/office/drawing/2014/main" id="{CE9D2501-BDEF-A072-6437-3CB09073EF99}"/>
              </a:ext>
            </a:extLst>
          </p:cNvPr>
          <p:cNvSpPr>
            <a:spLocks noGrp="1"/>
          </p:cNvSpPr>
          <p:nvPr>
            <p:ph type="sldNum" sz="quarter" idx="12"/>
          </p:nvPr>
        </p:nvSpPr>
        <p:spPr/>
        <p:txBody>
          <a:bodyPr/>
          <a:lstStyle/>
          <a:p>
            <a:fld id="{B1254B9F-6C8D-48FB-9BF4-CF6E84C56BB7}" type="slidenum">
              <a:rPr lang="en-US" smtClean="0"/>
              <a:t>10</a:t>
            </a:fld>
            <a:endParaRPr lang="en-US"/>
          </a:p>
        </p:txBody>
      </p:sp>
      <p:pic>
        <p:nvPicPr>
          <p:cNvPr id="6" name="Picture 5">
            <a:extLst>
              <a:ext uri="{FF2B5EF4-FFF2-40B4-BE49-F238E27FC236}">
                <a16:creationId xmlns:a16="http://schemas.microsoft.com/office/drawing/2014/main" id="{5927D64E-7F29-C3C8-FAFC-68CE090D5618}"/>
              </a:ext>
            </a:extLst>
          </p:cNvPr>
          <p:cNvPicPr>
            <a:picLocks noChangeAspect="1"/>
          </p:cNvPicPr>
          <p:nvPr/>
        </p:nvPicPr>
        <p:blipFill rotWithShape="1">
          <a:blip r:embed="rId4">
            <a:extLst>
              <a:ext uri="{28A0092B-C50C-407E-A947-70E740481C1C}">
                <a14:useLocalDpi xmlns:a14="http://schemas.microsoft.com/office/drawing/2010/main" val="0"/>
              </a:ext>
            </a:extLst>
          </a:blip>
          <a:srcRect l="34707" t="6535" r="33010" b="51866"/>
          <a:stretch/>
        </p:blipFill>
        <p:spPr>
          <a:xfrm>
            <a:off x="4273445" y="4195719"/>
            <a:ext cx="1162982" cy="838186"/>
          </a:xfrm>
          <a:prstGeom prst="rect">
            <a:avLst/>
          </a:prstGeom>
        </p:spPr>
      </p:pic>
      <p:pic>
        <p:nvPicPr>
          <p:cNvPr id="7" name="Picture 6">
            <a:extLst>
              <a:ext uri="{FF2B5EF4-FFF2-40B4-BE49-F238E27FC236}">
                <a16:creationId xmlns:a16="http://schemas.microsoft.com/office/drawing/2014/main" id="{D56D6F50-5C97-BE4B-777F-1C6931409670}"/>
              </a:ext>
            </a:extLst>
          </p:cNvPr>
          <p:cNvPicPr>
            <a:picLocks noChangeAspect="1"/>
          </p:cNvPicPr>
          <p:nvPr/>
        </p:nvPicPr>
        <p:blipFill rotWithShape="1">
          <a:blip r:embed="rId4">
            <a:extLst>
              <a:ext uri="{28A0092B-C50C-407E-A947-70E740481C1C}">
                <a14:useLocalDpi xmlns:a14="http://schemas.microsoft.com/office/drawing/2010/main" val="0"/>
              </a:ext>
            </a:extLst>
          </a:blip>
          <a:srcRect l="67717" t="52814" b="5587"/>
          <a:stretch/>
        </p:blipFill>
        <p:spPr>
          <a:xfrm>
            <a:off x="6755575" y="4195719"/>
            <a:ext cx="1162982" cy="838186"/>
          </a:xfrm>
          <a:prstGeom prst="rect">
            <a:avLst/>
          </a:prstGeom>
        </p:spPr>
      </p:pic>
    </p:spTree>
    <p:extLst>
      <p:ext uri="{BB962C8B-B14F-4D97-AF65-F5344CB8AC3E}">
        <p14:creationId xmlns:p14="http://schemas.microsoft.com/office/powerpoint/2010/main" val="4072222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2D2AF-86D6-8141-112B-7FB8E0B41688}"/>
              </a:ext>
            </a:extLst>
          </p:cNvPr>
          <p:cNvSpPr>
            <a:spLocks noGrp="1"/>
          </p:cNvSpPr>
          <p:nvPr>
            <p:ph type="title"/>
          </p:nvPr>
        </p:nvSpPr>
        <p:spPr/>
        <p:txBody>
          <a:bodyPr/>
          <a:lstStyle/>
          <a:p>
            <a:r>
              <a:rPr lang="en-US" dirty="0"/>
              <a:t>Big picture</a:t>
            </a:r>
          </a:p>
        </p:txBody>
      </p:sp>
      <p:sp>
        <p:nvSpPr>
          <p:cNvPr id="3" name="Date Placeholder 2">
            <a:extLst>
              <a:ext uri="{FF2B5EF4-FFF2-40B4-BE49-F238E27FC236}">
                <a16:creationId xmlns:a16="http://schemas.microsoft.com/office/drawing/2014/main" id="{DA03A42B-49E4-50E2-98AF-1244F6C4F4F6}"/>
              </a:ext>
            </a:extLst>
          </p:cNvPr>
          <p:cNvSpPr>
            <a:spLocks noGrp="1"/>
          </p:cNvSpPr>
          <p:nvPr>
            <p:ph type="dt" sz="half" idx="10"/>
          </p:nvPr>
        </p:nvSpPr>
        <p:spPr/>
        <p:txBody>
          <a:bodyPr/>
          <a:lstStyle/>
          <a:p>
            <a:fld id="{85742855-FC17-4523-944D-6C1C637FC0D6}" type="datetime1">
              <a:rPr lang="en-US" smtClean="0"/>
              <a:t>7/17/2024</a:t>
            </a:fld>
            <a:endParaRPr lang="en-US"/>
          </a:p>
        </p:txBody>
      </p:sp>
      <p:sp>
        <p:nvSpPr>
          <p:cNvPr id="4" name="Slide Number Placeholder 3">
            <a:extLst>
              <a:ext uri="{FF2B5EF4-FFF2-40B4-BE49-F238E27FC236}">
                <a16:creationId xmlns:a16="http://schemas.microsoft.com/office/drawing/2014/main" id="{A1D65C9A-D1FB-C72D-22C6-71A5411DFF71}"/>
              </a:ext>
            </a:extLst>
          </p:cNvPr>
          <p:cNvSpPr>
            <a:spLocks noGrp="1"/>
          </p:cNvSpPr>
          <p:nvPr>
            <p:ph type="sldNum" sz="quarter" idx="12"/>
          </p:nvPr>
        </p:nvSpPr>
        <p:spPr/>
        <p:txBody>
          <a:bodyPr/>
          <a:lstStyle/>
          <a:p>
            <a:fld id="{B1254B9F-6C8D-48FB-9BF4-CF6E84C56BB7}" type="slidenum">
              <a:rPr lang="en-US" smtClean="0"/>
              <a:t>11</a:t>
            </a:fld>
            <a:endParaRPr lang="en-US"/>
          </a:p>
        </p:txBody>
      </p:sp>
      <p:cxnSp>
        <p:nvCxnSpPr>
          <p:cNvPr id="15" name="Straight Connector 14">
            <a:extLst>
              <a:ext uri="{FF2B5EF4-FFF2-40B4-BE49-F238E27FC236}">
                <a16:creationId xmlns:a16="http://schemas.microsoft.com/office/drawing/2014/main" id="{5F677F2B-421D-4F0F-621A-825D1332EA63}"/>
              </a:ext>
            </a:extLst>
          </p:cNvPr>
          <p:cNvCxnSpPr>
            <a:cxnSpLocks/>
            <a:stCxn id="29" idx="6"/>
            <a:endCxn id="33" idx="2"/>
          </p:cNvCxnSpPr>
          <p:nvPr/>
        </p:nvCxnSpPr>
        <p:spPr>
          <a:xfrm>
            <a:off x="2578790" y="3848792"/>
            <a:ext cx="6807716" cy="0"/>
          </a:xfrm>
          <a:prstGeom prst="line">
            <a:avLst/>
          </a:prstGeom>
          <a:ln w="38100">
            <a:prstDash val="lgDash"/>
          </a:ln>
        </p:spPr>
        <p:style>
          <a:lnRef idx="1">
            <a:schemeClr val="accent6"/>
          </a:lnRef>
          <a:fillRef idx="0">
            <a:schemeClr val="accent6"/>
          </a:fillRef>
          <a:effectRef idx="0">
            <a:schemeClr val="accent6"/>
          </a:effectRef>
          <a:fontRef idx="minor">
            <a:schemeClr val="tx1"/>
          </a:fontRef>
        </p:style>
      </p:cxnSp>
      <p:sp>
        <p:nvSpPr>
          <p:cNvPr id="18" name="TextBox 17">
            <a:extLst>
              <a:ext uri="{FF2B5EF4-FFF2-40B4-BE49-F238E27FC236}">
                <a16:creationId xmlns:a16="http://schemas.microsoft.com/office/drawing/2014/main" id="{AEF7A3AD-F825-7BF0-66B2-CC44E0F67914}"/>
              </a:ext>
            </a:extLst>
          </p:cNvPr>
          <p:cNvSpPr txBox="1"/>
          <p:nvPr/>
        </p:nvSpPr>
        <p:spPr>
          <a:xfrm>
            <a:off x="3200356" y="1836861"/>
            <a:ext cx="2079031"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b="1" dirty="0">
                <a:latin typeface="+mj-lt"/>
              </a:rPr>
              <a:t>Bottleneck analysis</a:t>
            </a:r>
          </a:p>
        </p:txBody>
      </p:sp>
      <p:sp>
        <p:nvSpPr>
          <p:cNvPr id="20" name="TextBox 19">
            <a:extLst>
              <a:ext uri="{FF2B5EF4-FFF2-40B4-BE49-F238E27FC236}">
                <a16:creationId xmlns:a16="http://schemas.microsoft.com/office/drawing/2014/main" id="{DA7D8AB6-BF2B-3F59-D90C-0C9B178FDA85}"/>
              </a:ext>
            </a:extLst>
          </p:cNvPr>
          <p:cNvSpPr txBox="1"/>
          <p:nvPr/>
        </p:nvSpPr>
        <p:spPr>
          <a:xfrm>
            <a:off x="6260470" y="4581273"/>
            <a:ext cx="2573327"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b="1" dirty="0">
                <a:latin typeface="+mj-lt"/>
              </a:rPr>
              <a:t>Population flow</a:t>
            </a:r>
          </a:p>
        </p:txBody>
      </p:sp>
      <p:pic>
        <p:nvPicPr>
          <p:cNvPr id="21" name="Picture 20">
            <a:extLst>
              <a:ext uri="{FF2B5EF4-FFF2-40B4-BE49-F238E27FC236}">
                <a16:creationId xmlns:a16="http://schemas.microsoft.com/office/drawing/2014/main" id="{177D6A6D-BC75-1E2D-D561-E83D7EE94D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8648" y="4962198"/>
            <a:ext cx="2112952" cy="1115413"/>
          </a:xfrm>
          <a:prstGeom prst="rect">
            <a:avLst/>
          </a:prstGeom>
        </p:spPr>
        <p:style>
          <a:lnRef idx="1">
            <a:schemeClr val="accent2"/>
          </a:lnRef>
          <a:fillRef idx="2">
            <a:schemeClr val="accent2"/>
          </a:fillRef>
          <a:effectRef idx="1">
            <a:schemeClr val="accent2"/>
          </a:effectRef>
          <a:fontRef idx="minor">
            <a:schemeClr val="dk1"/>
          </a:fontRef>
        </p:style>
      </p:pic>
      <p:sp>
        <p:nvSpPr>
          <p:cNvPr id="19" name="TextBox 18">
            <a:extLst>
              <a:ext uri="{FF2B5EF4-FFF2-40B4-BE49-F238E27FC236}">
                <a16:creationId xmlns:a16="http://schemas.microsoft.com/office/drawing/2014/main" id="{9FFE76E4-D029-462E-FB37-BCFC7F0D1DD6}"/>
              </a:ext>
            </a:extLst>
          </p:cNvPr>
          <p:cNvSpPr txBox="1"/>
          <p:nvPr/>
        </p:nvSpPr>
        <p:spPr>
          <a:xfrm>
            <a:off x="7040261" y="1826268"/>
            <a:ext cx="1853368" cy="38377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b="1" dirty="0">
                <a:latin typeface="+mj-lt"/>
              </a:rPr>
              <a:t>Phase transitions</a:t>
            </a:r>
          </a:p>
        </p:txBody>
      </p:sp>
      <p:pic>
        <p:nvPicPr>
          <p:cNvPr id="26" name="Picture 25">
            <a:extLst>
              <a:ext uri="{FF2B5EF4-FFF2-40B4-BE49-F238E27FC236}">
                <a16:creationId xmlns:a16="http://schemas.microsoft.com/office/drawing/2014/main" id="{98E89A30-F580-C851-E7B6-79C11208FA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0261" y="2184953"/>
            <a:ext cx="1853368" cy="1173017"/>
          </a:xfrm>
          <a:prstGeom prst="rect">
            <a:avLst/>
          </a:prstGeom>
        </p:spPr>
        <p:style>
          <a:lnRef idx="1">
            <a:schemeClr val="accent2"/>
          </a:lnRef>
          <a:fillRef idx="2">
            <a:schemeClr val="accent2"/>
          </a:fillRef>
          <a:effectRef idx="1">
            <a:schemeClr val="accent2"/>
          </a:effectRef>
          <a:fontRef idx="minor">
            <a:schemeClr val="dk1"/>
          </a:fontRef>
        </p:style>
      </p:pic>
      <p:sp>
        <p:nvSpPr>
          <p:cNvPr id="27" name="TextBox 26">
            <a:extLst>
              <a:ext uri="{FF2B5EF4-FFF2-40B4-BE49-F238E27FC236}">
                <a16:creationId xmlns:a16="http://schemas.microsoft.com/office/drawing/2014/main" id="{6D0BE261-36AA-5E5F-2DD8-2365EC2E6385}"/>
              </a:ext>
            </a:extLst>
          </p:cNvPr>
          <p:cNvSpPr txBox="1"/>
          <p:nvPr/>
        </p:nvSpPr>
        <p:spPr>
          <a:xfrm>
            <a:off x="3068648" y="4581273"/>
            <a:ext cx="2112952"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b="1" dirty="0">
                <a:latin typeface="+mj-lt"/>
              </a:rPr>
              <a:t>Empirical analysis</a:t>
            </a:r>
          </a:p>
        </p:txBody>
      </p:sp>
      <p:sp>
        <p:nvSpPr>
          <p:cNvPr id="29" name="Oval 28">
            <a:extLst>
              <a:ext uri="{FF2B5EF4-FFF2-40B4-BE49-F238E27FC236}">
                <a16:creationId xmlns:a16="http://schemas.microsoft.com/office/drawing/2014/main" id="{A5510AF6-5D0A-E5F7-9BE4-BDB3486BCF15}"/>
              </a:ext>
            </a:extLst>
          </p:cNvPr>
          <p:cNvSpPr/>
          <p:nvPr/>
        </p:nvSpPr>
        <p:spPr>
          <a:xfrm>
            <a:off x="1144126" y="3186010"/>
            <a:ext cx="1434664" cy="1325563"/>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CAA9027-705C-ABCD-AFCC-47C37FB60198}"/>
              </a:ext>
            </a:extLst>
          </p:cNvPr>
          <p:cNvSpPr/>
          <p:nvPr/>
        </p:nvSpPr>
        <p:spPr>
          <a:xfrm>
            <a:off x="9386506" y="3186010"/>
            <a:ext cx="1434664" cy="1325563"/>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DE21E0C-3FB5-F1C3-21C0-EAFCF3C65EA6}"/>
              </a:ext>
            </a:extLst>
          </p:cNvPr>
          <p:cNvSpPr txBox="1"/>
          <p:nvPr/>
        </p:nvSpPr>
        <p:spPr>
          <a:xfrm>
            <a:off x="9668879" y="2744961"/>
            <a:ext cx="915635" cy="369332"/>
          </a:xfrm>
          <a:prstGeom prst="rect">
            <a:avLst/>
          </a:prstGeom>
          <a:noFill/>
        </p:spPr>
        <p:txBody>
          <a:bodyPr wrap="none" rtlCol="0">
            <a:spAutoFit/>
          </a:bodyPr>
          <a:lstStyle/>
          <a:p>
            <a:r>
              <a:rPr lang="en-US" b="1" dirty="0">
                <a:latin typeface="+mj-lt"/>
              </a:rPr>
              <a:t>Physics</a:t>
            </a:r>
          </a:p>
        </p:txBody>
      </p:sp>
      <p:sp>
        <p:nvSpPr>
          <p:cNvPr id="13" name="TextBox 12">
            <a:extLst>
              <a:ext uri="{FF2B5EF4-FFF2-40B4-BE49-F238E27FC236}">
                <a16:creationId xmlns:a16="http://schemas.microsoft.com/office/drawing/2014/main" id="{FC97BA0B-0BD4-C02A-4775-FBCF42755EFB}"/>
              </a:ext>
            </a:extLst>
          </p:cNvPr>
          <p:cNvSpPr txBox="1"/>
          <p:nvPr/>
        </p:nvSpPr>
        <p:spPr>
          <a:xfrm>
            <a:off x="1021072" y="2465908"/>
            <a:ext cx="1680141" cy="646331"/>
          </a:xfrm>
          <a:prstGeom prst="rect">
            <a:avLst/>
          </a:prstGeom>
          <a:noFill/>
        </p:spPr>
        <p:txBody>
          <a:bodyPr wrap="square" rtlCol="0">
            <a:spAutoFit/>
          </a:bodyPr>
          <a:lstStyle/>
          <a:p>
            <a:pPr algn="ctr"/>
            <a:r>
              <a:rPr lang="en-US" b="1" dirty="0">
                <a:latin typeface="+mj-lt"/>
              </a:rPr>
              <a:t>MCMC convergence</a:t>
            </a:r>
          </a:p>
        </p:txBody>
      </p:sp>
      <p:pic>
        <p:nvPicPr>
          <p:cNvPr id="39" name="Picture 38">
            <a:extLst>
              <a:ext uri="{FF2B5EF4-FFF2-40B4-BE49-F238E27FC236}">
                <a16:creationId xmlns:a16="http://schemas.microsoft.com/office/drawing/2014/main" id="{7AAAA6B2-96C5-B017-013E-05E48BC834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53349" y="3326214"/>
            <a:ext cx="908447" cy="1045155"/>
          </a:xfrm>
          <a:prstGeom prst="rect">
            <a:avLst/>
          </a:prstGeom>
        </p:spPr>
      </p:pic>
      <p:pic>
        <p:nvPicPr>
          <p:cNvPr id="62" name="Picture 61">
            <a:extLst>
              <a:ext uri="{FF2B5EF4-FFF2-40B4-BE49-F238E27FC236}">
                <a16:creationId xmlns:a16="http://schemas.microsoft.com/office/drawing/2014/main" id="{CF94C740-F3C9-C3C4-6C4B-4CDFF21B952B}"/>
              </a:ext>
            </a:extLst>
          </p:cNvPr>
          <p:cNvPicPr>
            <a:picLocks noChangeAspect="1"/>
          </p:cNvPicPr>
          <p:nvPr/>
        </p:nvPicPr>
        <p:blipFill rotWithShape="1">
          <a:blip r:embed="rId6"/>
          <a:srcRect r="10854"/>
          <a:stretch/>
        </p:blipFill>
        <p:spPr>
          <a:xfrm>
            <a:off x="3200356" y="2208224"/>
            <a:ext cx="2079031" cy="1149745"/>
          </a:xfrm>
          <a:prstGeom prst="rect">
            <a:avLst/>
          </a:prstGeom>
        </p:spPr>
        <p:style>
          <a:lnRef idx="1">
            <a:schemeClr val="accent2"/>
          </a:lnRef>
          <a:fillRef idx="2">
            <a:schemeClr val="accent2"/>
          </a:fillRef>
          <a:effectRef idx="1">
            <a:schemeClr val="accent2"/>
          </a:effectRef>
          <a:fontRef idx="minor">
            <a:schemeClr val="dk1"/>
          </a:fontRef>
        </p:style>
      </p:pic>
      <p:cxnSp>
        <p:nvCxnSpPr>
          <p:cNvPr id="66" name="Straight Arrow Connector 65">
            <a:extLst>
              <a:ext uri="{FF2B5EF4-FFF2-40B4-BE49-F238E27FC236}">
                <a16:creationId xmlns:a16="http://schemas.microsoft.com/office/drawing/2014/main" id="{7DD6661E-E44D-73E0-67AC-7ABAF180B311}"/>
              </a:ext>
            </a:extLst>
          </p:cNvPr>
          <p:cNvCxnSpPr>
            <a:cxnSpLocks/>
          </p:cNvCxnSpPr>
          <p:nvPr/>
        </p:nvCxnSpPr>
        <p:spPr>
          <a:xfrm flipH="1">
            <a:off x="9030321" y="4371369"/>
            <a:ext cx="416560" cy="356791"/>
          </a:xfrm>
          <a:prstGeom prst="straightConnector1">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303912A-B9FB-31E3-7091-0BB869C598F1}"/>
              </a:ext>
            </a:extLst>
          </p:cNvPr>
          <p:cNvCxnSpPr>
            <a:cxnSpLocks/>
          </p:cNvCxnSpPr>
          <p:nvPr/>
        </p:nvCxnSpPr>
        <p:spPr>
          <a:xfrm flipH="1" flipV="1">
            <a:off x="9099276" y="3112239"/>
            <a:ext cx="391511" cy="242218"/>
          </a:xfrm>
          <a:prstGeom prst="straightConnector1">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8F1EF012-D95F-7584-328A-96AE5D0D95FC}"/>
              </a:ext>
            </a:extLst>
          </p:cNvPr>
          <p:cNvCxnSpPr>
            <a:cxnSpLocks/>
          </p:cNvCxnSpPr>
          <p:nvPr/>
        </p:nvCxnSpPr>
        <p:spPr>
          <a:xfrm>
            <a:off x="2482497" y="4371369"/>
            <a:ext cx="491290" cy="423960"/>
          </a:xfrm>
          <a:prstGeom prst="straightConnector1">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E9888F75-3E19-9812-54E5-3AA0F847A0B3}"/>
              </a:ext>
            </a:extLst>
          </p:cNvPr>
          <p:cNvCxnSpPr>
            <a:cxnSpLocks/>
          </p:cNvCxnSpPr>
          <p:nvPr/>
        </p:nvCxnSpPr>
        <p:spPr>
          <a:xfrm flipV="1">
            <a:off x="2578790" y="3060491"/>
            <a:ext cx="490054" cy="337616"/>
          </a:xfrm>
          <a:prstGeom prst="straightConnector1">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84" name="Picture 83">
            <a:extLst>
              <a:ext uri="{FF2B5EF4-FFF2-40B4-BE49-F238E27FC236}">
                <a16:creationId xmlns:a16="http://schemas.microsoft.com/office/drawing/2014/main" id="{FB87F2CA-39AC-A274-3EAD-95737635BDDA}"/>
              </a:ext>
            </a:extLst>
          </p:cNvPr>
          <p:cNvPicPr>
            <a:picLocks noChangeAspect="1"/>
          </p:cNvPicPr>
          <p:nvPr/>
        </p:nvPicPr>
        <p:blipFill rotWithShape="1">
          <a:blip r:embed="rId7"/>
          <a:srcRect l="3301" t="15319" r="66059" b="33048"/>
          <a:stretch/>
        </p:blipFill>
        <p:spPr>
          <a:xfrm>
            <a:off x="6260470" y="5110220"/>
            <a:ext cx="1147877" cy="886814"/>
          </a:xfrm>
          <a:prstGeom prst="rect">
            <a:avLst/>
          </a:prstGeom>
        </p:spPr>
        <p:style>
          <a:lnRef idx="1">
            <a:schemeClr val="accent2"/>
          </a:lnRef>
          <a:fillRef idx="2">
            <a:schemeClr val="accent2"/>
          </a:fillRef>
          <a:effectRef idx="1">
            <a:schemeClr val="accent2"/>
          </a:effectRef>
          <a:fontRef idx="minor">
            <a:schemeClr val="dk1"/>
          </a:fontRef>
        </p:style>
      </p:pic>
      <p:pic>
        <p:nvPicPr>
          <p:cNvPr id="85" name="Picture 84">
            <a:extLst>
              <a:ext uri="{FF2B5EF4-FFF2-40B4-BE49-F238E27FC236}">
                <a16:creationId xmlns:a16="http://schemas.microsoft.com/office/drawing/2014/main" id="{A4715208-83AA-7326-6CF1-2E063F6BAA9A}"/>
              </a:ext>
            </a:extLst>
          </p:cNvPr>
          <p:cNvPicPr>
            <a:picLocks noChangeAspect="1"/>
          </p:cNvPicPr>
          <p:nvPr/>
        </p:nvPicPr>
        <p:blipFill rotWithShape="1">
          <a:blip r:embed="rId8"/>
          <a:srcRect r="49091"/>
          <a:stretch/>
        </p:blipFill>
        <p:spPr>
          <a:xfrm>
            <a:off x="7548328" y="5104774"/>
            <a:ext cx="1274853" cy="965200"/>
          </a:xfrm>
          <a:prstGeom prst="rect">
            <a:avLst/>
          </a:prstGeom>
        </p:spPr>
      </p:pic>
      <p:pic>
        <p:nvPicPr>
          <p:cNvPr id="2050" name="Picture 2" descr="Delta png images | PNGEgg">
            <a:extLst>
              <a:ext uri="{FF2B5EF4-FFF2-40B4-BE49-F238E27FC236}">
                <a16:creationId xmlns:a16="http://schemas.microsoft.com/office/drawing/2014/main" id="{160F771C-E587-D6A3-EB66-D3AFBD0A5079}"/>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8333" b="90000" l="10000" r="90000">
                        <a14:foregroundMark x1="42556" y1="10000" x2="58111" y2="8333"/>
                        <a14:foregroundMark x1="58111" y1="8333" x2="42222" y2="10333"/>
                      </a14:backgroundRemoval>
                    </a14:imgEffect>
                  </a14:imgLayer>
                </a14:imgProps>
              </a:ext>
              <a:ext uri="{28A0092B-C50C-407E-A947-70E740481C1C}">
                <a14:useLocalDpi xmlns:a14="http://schemas.microsoft.com/office/drawing/2010/main" val="0"/>
              </a:ext>
            </a:extLst>
          </a:blip>
          <a:srcRect/>
          <a:stretch>
            <a:fillRect/>
          </a:stretch>
        </p:blipFill>
        <p:spPr bwMode="auto">
          <a:xfrm>
            <a:off x="1546547" y="3568836"/>
            <a:ext cx="637246" cy="637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696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1"/>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7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7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8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8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6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19" grpId="0" animBg="1"/>
      <p:bldP spid="2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4F0DE-2F3B-D3DB-FD36-B71CA5DEAC7A}"/>
              </a:ext>
            </a:extLst>
          </p:cNvPr>
          <p:cNvSpPr>
            <a:spLocks noGrp="1"/>
          </p:cNvSpPr>
          <p:nvPr>
            <p:ph type="title"/>
          </p:nvPr>
        </p:nvSpPr>
        <p:spPr/>
        <p:txBody>
          <a:bodyPr/>
          <a:lstStyle/>
          <a:p>
            <a:r>
              <a:rPr lang="en-US" dirty="0"/>
              <a:t>Open question</a:t>
            </a:r>
          </a:p>
        </p:txBody>
      </p:sp>
      <p:sp>
        <p:nvSpPr>
          <p:cNvPr id="3" name="Date Placeholder 2">
            <a:extLst>
              <a:ext uri="{FF2B5EF4-FFF2-40B4-BE49-F238E27FC236}">
                <a16:creationId xmlns:a16="http://schemas.microsoft.com/office/drawing/2014/main" id="{04511A1D-03C3-CFF0-4AD8-32F5B7F01F9B}"/>
              </a:ext>
            </a:extLst>
          </p:cNvPr>
          <p:cNvSpPr>
            <a:spLocks noGrp="1"/>
          </p:cNvSpPr>
          <p:nvPr>
            <p:ph type="dt" sz="half" idx="10"/>
          </p:nvPr>
        </p:nvSpPr>
        <p:spPr/>
        <p:txBody>
          <a:bodyPr/>
          <a:lstStyle/>
          <a:p>
            <a:fld id="{85742855-FC17-4523-944D-6C1C637FC0D6}" type="datetime1">
              <a:rPr lang="en-US" smtClean="0"/>
              <a:t>7/17/2024</a:t>
            </a:fld>
            <a:endParaRPr lang="en-US"/>
          </a:p>
        </p:txBody>
      </p:sp>
      <p:sp>
        <p:nvSpPr>
          <p:cNvPr id="4" name="Slide Number Placeholder 3">
            <a:extLst>
              <a:ext uri="{FF2B5EF4-FFF2-40B4-BE49-F238E27FC236}">
                <a16:creationId xmlns:a16="http://schemas.microsoft.com/office/drawing/2014/main" id="{1FBF433B-8FC8-87CB-F6AA-2A54D4483F54}"/>
              </a:ext>
            </a:extLst>
          </p:cNvPr>
          <p:cNvSpPr>
            <a:spLocks noGrp="1"/>
          </p:cNvSpPr>
          <p:nvPr>
            <p:ph type="sldNum" sz="quarter" idx="12"/>
          </p:nvPr>
        </p:nvSpPr>
        <p:spPr/>
        <p:txBody>
          <a:bodyPr/>
          <a:lstStyle/>
          <a:p>
            <a:fld id="{B1254B9F-6C8D-48FB-9BF4-CF6E84C56BB7}" type="slidenum">
              <a:rPr lang="en-US" smtClean="0"/>
              <a:t>12</a:t>
            </a:fld>
            <a:endParaRPr lang="en-US" dirty="0"/>
          </a:p>
        </p:txBody>
      </p:sp>
      <p:sp>
        <p:nvSpPr>
          <p:cNvPr id="5" name="TextBox 4">
            <a:extLst>
              <a:ext uri="{FF2B5EF4-FFF2-40B4-BE49-F238E27FC236}">
                <a16:creationId xmlns:a16="http://schemas.microsoft.com/office/drawing/2014/main" id="{DBB7C2A0-0E12-8FE3-BD5D-1B9B3616E320}"/>
              </a:ext>
            </a:extLst>
          </p:cNvPr>
          <p:cNvSpPr txBox="1"/>
          <p:nvPr/>
        </p:nvSpPr>
        <p:spPr>
          <a:xfrm>
            <a:off x="1078377" y="2153988"/>
            <a:ext cx="9668737" cy="2943563"/>
          </a:xfrm>
          <a:prstGeom prst="rect">
            <a:avLst/>
          </a:prstGeom>
          <a:noFill/>
        </p:spPr>
        <p:txBody>
          <a:bodyPr wrap="none" rtlCol="0">
            <a:spAutoFit/>
          </a:bodyPr>
          <a:lstStyle/>
          <a:p>
            <a:pPr marL="342900" indent="-342900">
              <a:lnSpc>
                <a:spcPct val="200000"/>
              </a:lnSpc>
              <a:buFont typeface="+mj-lt"/>
              <a:buAutoNum type="arabicPeriod"/>
            </a:pPr>
            <a:r>
              <a:rPr lang="en-US" sz="2400" dirty="0">
                <a:latin typeface="+mj-lt"/>
              </a:rPr>
              <a:t>Does the polynomial speedup persist for larger systems?</a:t>
            </a:r>
          </a:p>
          <a:p>
            <a:pPr marL="342900" indent="-342900">
              <a:lnSpc>
                <a:spcPct val="200000"/>
              </a:lnSpc>
              <a:buFont typeface="+mj-lt"/>
              <a:buAutoNum type="arabicPeriod"/>
            </a:pPr>
            <a:r>
              <a:rPr lang="en-US" sz="2400" dirty="0">
                <a:latin typeface="+mj-lt"/>
              </a:rPr>
              <a:t>How hard is it to simulate the quantum proposal classically? </a:t>
            </a:r>
          </a:p>
          <a:p>
            <a:pPr marL="342900" indent="-342900">
              <a:lnSpc>
                <a:spcPct val="200000"/>
              </a:lnSpc>
              <a:buFont typeface="+mj-lt"/>
              <a:buAutoNum type="arabicPeriod"/>
            </a:pPr>
            <a:r>
              <a:rPr lang="en-US" sz="2400" dirty="0">
                <a:latin typeface="+mj-lt"/>
              </a:rPr>
              <a:t>Can we connect convergence rate with physical properties of the system?</a:t>
            </a:r>
          </a:p>
          <a:p>
            <a:pPr marL="342900" indent="-342900">
              <a:lnSpc>
                <a:spcPct val="200000"/>
              </a:lnSpc>
              <a:buFont typeface="+mj-lt"/>
              <a:buAutoNum type="arabicPeriod"/>
            </a:pPr>
            <a:r>
              <a:rPr lang="en-US" sz="2400" dirty="0">
                <a:latin typeface="+mj-lt"/>
              </a:rPr>
              <a:t>What kind of problems is quantum-enhanced MCMC good for?</a:t>
            </a:r>
          </a:p>
        </p:txBody>
      </p:sp>
    </p:spTree>
    <p:extLst>
      <p:ext uri="{BB962C8B-B14F-4D97-AF65-F5344CB8AC3E}">
        <p14:creationId xmlns:p14="http://schemas.microsoft.com/office/powerpoint/2010/main" val="1575547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BFCB-A68B-51BC-8312-24F51A081F0F}"/>
              </a:ext>
            </a:extLst>
          </p:cNvPr>
          <p:cNvSpPr>
            <a:spLocks noGrp="1"/>
          </p:cNvSpPr>
          <p:nvPr>
            <p:ph type="title"/>
          </p:nvPr>
        </p:nvSpPr>
        <p:spPr/>
        <p:txBody>
          <a:bodyPr/>
          <a:lstStyle/>
          <a:p>
            <a:r>
              <a:rPr lang="en-US" dirty="0"/>
              <a:t>Backup slides</a:t>
            </a:r>
          </a:p>
        </p:txBody>
      </p:sp>
      <p:sp>
        <p:nvSpPr>
          <p:cNvPr id="3" name="Date Placeholder 2">
            <a:extLst>
              <a:ext uri="{FF2B5EF4-FFF2-40B4-BE49-F238E27FC236}">
                <a16:creationId xmlns:a16="http://schemas.microsoft.com/office/drawing/2014/main" id="{9F47982C-B6B0-A3B7-982B-74A98AB0968F}"/>
              </a:ext>
            </a:extLst>
          </p:cNvPr>
          <p:cNvSpPr>
            <a:spLocks noGrp="1"/>
          </p:cNvSpPr>
          <p:nvPr>
            <p:ph type="dt" sz="half" idx="10"/>
          </p:nvPr>
        </p:nvSpPr>
        <p:spPr/>
        <p:txBody>
          <a:bodyPr/>
          <a:lstStyle/>
          <a:p>
            <a:fld id="{85742855-FC17-4523-944D-6C1C637FC0D6}" type="datetime1">
              <a:rPr lang="en-US" smtClean="0"/>
              <a:t>7/17/2024</a:t>
            </a:fld>
            <a:endParaRPr lang="en-US"/>
          </a:p>
        </p:txBody>
      </p:sp>
      <p:sp>
        <p:nvSpPr>
          <p:cNvPr id="4" name="Slide Number Placeholder 3">
            <a:extLst>
              <a:ext uri="{FF2B5EF4-FFF2-40B4-BE49-F238E27FC236}">
                <a16:creationId xmlns:a16="http://schemas.microsoft.com/office/drawing/2014/main" id="{5D521E12-4A85-D505-7EAA-5C9F9FD0AEC1}"/>
              </a:ext>
            </a:extLst>
          </p:cNvPr>
          <p:cNvSpPr>
            <a:spLocks noGrp="1"/>
          </p:cNvSpPr>
          <p:nvPr>
            <p:ph type="sldNum" sz="quarter" idx="12"/>
          </p:nvPr>
        </p:nvSpPr>
        <p:spPr/>
        <p:txBody>
          <a:bodyPr/>
          <a:lstStyle/>
          <a:p>
            <a:fld id="{B1254B9F-6C8D-48FB-9BF4-CF6E84C56BB7}" type="slidenum">
              <a:rPr lang="en-US" smtClean="0"/>
              <a:t>13</a:t>
            </a:fld>
            <a:endParaRPr lang="en-US"/>
          </a:p>
        </p:txBody>
      </p:sp>
    </p:spTree>
    <p:extLst>
      <p:ext uri="{BB962C8B-B14F-4D97-AF65-F5344CB8AC3E}">
        <p14:creationId xmlns:p14="http://schemas.microsoft.com/office/powerpoint/2010/main" val="1133408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04C70-29D1-503B-8A2C-983018E9090F}"/>
              </a:ext>
            </a:extLst>
          </p:cNvPr>
          <p:cNvSpPr>
            <a:spLocks noGrp="1"/>
          </p:cNvSpPr>
          <p:nvPr>
            <p:ph type="title"/>
          </p:nvPr>
        </p:nvSpPr>
        <p:spPr/>
        <p:txBody>
          <a:bodyPr/>
          <a:lstStyle/>
          <a:p>
            <a:r>
              <a:rPr lang="en-US" dirty="0"/>
              <a:t>Phase diagrams for different </a:t>
            </a:r>
            <a:r>
              <a:rPr lang="en-US" b="1" dirty="0"/>
              <a:t>n</a:t>
            </a:r>
          </a:p>
        </p:txBody>
      </p:sp>
      <p:sp>
        <p:nvSpPr>
          <p:cNvPr id="3" name="Date Placeholder 2">
            <a:extLst>
              <a:ext uri="{FF2B5EF4-FFF2-40B4-BE49-F238E27FC236}">
                <a16:creationId xmlns:a16="http://schemas.microsoft.com/office/drawing/2014/main" id="{7A5A6A64-5AF8-770A-D75A-50605493DACE}"/>
              </a:ext>
            </a:extLst>
          </p:cNvPr>
          <p:cNvSpPr>
            <a:spLocks noGrp="1"/>
          </p:cNvSpPr>
          <p:nvPr>
            <p:ph type="dt" sz="half" idx="10"/>
          </p:nvPr>
        </p:nvSpPr>
        <p:spPr/>
        <p:txBody>
          <a:bodyPr/>
          <a:lstStyle/>
          <a:p>
            <a:fld id="{85742855-FC17-4523-944D-6C1C637FC0D6}" type="datetime1">
              <a:rPr lang="en-US" smtClean="0"/>
              <a:t>7/17/2024</a:t>
            </a:fld>
            <a:endParaRPr lang="en-US"/>
          </a:p>
        </p:txBody>
      </p:sp>
      <p:sp>
        <p:nvSpPr>
          <p:cNvPr id="4" name="Slide Number Placeholder 3">
            <a:extLst>
              <a:ext uri="{FF2B5EF4-FFF2-40B4-BE49-F238E27FC236}">
                <a16:creationId xmlns:a16="http://schemas.microsoft.com/office/drawing/2014/main" id="{5EA31976-C000-B871-61AD-647DED805929}"/>
              </a:ext>
            </a:extLst>
          </p:cNvPr>
          <p:cNvSpPr>
            <a:spLocks noGrp="1"/>
          </p:cNvSpPr>
          <p:nvPr>
            <p:ph type="sldNum" sz="quarter" idx="12"/>
          </p:nvPr>
        </p:nvSpPr>
        <p:spPr/>
        <p:txBody>
          <a:bodyPr/>
          <a:lstStyle/>
          <a:p>
            <a:fld id="{B1254B9F-6C8D-48FB-9BF4-CF6E84C56BB7}" type="slidenum">
              <a:rPr lang="en-US" smtClean="0"/>
              <a:t>14</a:t>
            </a:fld>
            <a:endParaRPr lang="en-US"/>
          </a:p>
        </p:txBody>
      </p:sp>
      <p:pic>
        <p:nvPicPr>
          <p:cNvPr id="6" name="Picture 5">
            <a:extLst>
              <a:ext uri="{FF2B5EF4-FFF2-40B4-BE49-F238E27FC236}">
                <a16:creationId xmlns:a16="http://schemas.microsoft.com/office/drawing/2014/main" id="{FC0BF8D2-1D1F-A4A9-1272-6733A09CA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3079" y="1899335"/>
            <a:ext cx="6809284" cy="4229322"/>
          </a:xfrm>
          <a:prstGeom prst="rect">
            <a:avLst/>
          </a:prstGeom>
        </p:spPr>
      </p:pic>
    </p:spTree>
    <p:extLst>
      <p:ext uri="{BB962C8B-B14F-4D97-AF65-F5344CB8AC3E}">
        <p14:creationId xmlns:p14="http://schemas.microsoft.com/office/powerpoint/2010/main" val="3089158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0412B-2059-4A77-9E80-20E1660D8C28}"/>
              </a:ext>
            </a:extLst>
          </p:cNvPr>
          <p:cNvSpPr>
            <a:spLocks noGrp="1"/>
          </p:cNvSpPr>
          <p:nvPr>
            <p:ph type="title"/>
          </p:nvPr>
        </p:nvSpPr>
        <p:spPr>
          <a:xfrm>
            <a:off x="838200" y="365125"/>
            <a:ext cx="10515600" cy="1325563"/>
          </a:xfrm>
        </p:spPr>
        <p:txBody>
          <a:bodyPr/>
          <a:lstStyle/>
          <a:p>
            <a:r>
              <a:rPr lang="en-US" dirty="0"/>
              <a:t>Parameter landscape for different n</a:t>
            </a:r>
          </a:p>
        </p:txBody>
      </p:sp>
      <p:sp>
        <p:nvSpPr>
          <p:cNvPr id="3" name="Date Placeholder 2">
            <a:extLst>
              <a:ext uri="{FF2B5EF4-FFF2-40B4-BE49-F238E27FC236}">
                <a16:creationId xmlns:a16="http://schemas.microsoft.com/office/drawing/2014/main" id="{1A54B478-01CD-4E66-CEF0-9E776E2DF9CF}"/>
              </a:ext>
            </a:extLst>
          </p:cNvPr>
          <p:cNvSpPr>
            <a:spLocks noGrp="1"/>
          </p:cNvSpPr>
          <p:nvPr>
            <p:ph type="dt" sz="half" idx="10"/>
          </p:nvPr>
        </p:nvSpPr>
        <p:spPr>
          <a:xfrm>
            <a:off x="838200" y="6356350"/>
            <a:ext cx="2743200" cy="365125"/>
          </a:xfrm>
        </p:spPr>
        <p:txBody>
          <a:bodyPr/>
          <a:lstStyle/>
          <a:p>
            <a:fld id="{85742855-FC17-4523-944D-6C1C637FC0D6}" type="datetime1">
              <a:rPr lang="en-US" smtClean="0"/>
              <a:pPr/>
              <a:t>7/17/2024</a:t>
            </a:fld>
            <a:endParaRPr lang="en-US"/>
          </a:p>
        </p:txBody>
      </p:sp>
      <p:sp>
        <p:nvSpPr>
          <p:cNvPr id="4" name="Slide Number Placeholder 3">
            <a:extLst>
              <a:ext uri="{FF2B5EF4-FFF2-40B4-BE49-F238E27FC236}">
                <a16:creationId xmlns:a16="http://schemas.microsoft.com/office/drawing/2014/main" id="{7ACB4403-95C0-5DEE-AB27-BDF05BFF5206}"/>
              </a:ext>
            </a:extLst>
          </p:cNvPr>
          <p:cNvSpPr>
            <a:spLocks noGrp="1"/>
          </p:cNvSpPr>
          <p:nvPr>
            <p:ph type="sldNum" sz="quarter" idx="12"/>
          </p:nvPr>
        </p:nvSpPr>
        <p:spPr>
          <a:xfrm>
            <a:off x="8610600" y="6356350"/>
            <a:ext cx="2743200" cy="365125"/>
          </a:xfrm>
        </p:spPr>
        <p:txBody>
          <a:bodyPr/>
          <a:lstStyle/>
          <a:p>
            <a:fld id="{B1254B9F-6C8D-48FB-9BF4-CF6E84C56BB7}" type="slidenum">
              <a:rPr lang="en-US" smtClean="0"/>
              <a:pPr/>
              <a:t>15</a:t>
            </a:fld>
            <a:endParaRPr lang="en-US"/>
          </a:p>
        </p:txBody>
      </p:sp>
      <p:pic>
        <p:nvPicPr>
          <p:cNvPr id="6" name="Picture 5">
            <a:extLst>
              <a:ext uri="{FF2B5EF4-FFF2-40B4-BE49-F238E27FC236}">
                <a16:creationId xmlns:a16="http://schemas.microsoft.com/office/drawing/2014/main" id="{2344A54A-05D0-1B31-2C59-B6B2070A81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8117" y="1837191"/>
            <a:ext cx="7059608" cy="4372655"/>
          </a:xfrm>
          <a:prstGeom prst="rect">
            <a:avLst/>
          </a:prstGeom>
        </p:spPr>
      </p:pic>
    </p:spTree>
    <p:extLst>
      <p:ext uri="{BB962C8B-B14F-4D97-AF65-F5344CB8AC3E}">
        <p14:creationId xmlns:p14="http://schemas.microsoft.com/office/powerpoint/2010/main" val="4117066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0EE87-74DD-D2C9-2BD6-1BB54F38EC17}"/>
              </a:ext>
            </a:extLst>
          </p:cNvPr>
          <p:cNvSpPr>
            <a:spLocks noGrp="1"/>
          </p:cNvSpPr>
          <p:nvPr>
            <p:ph type="title"/>
          </p:nvPr>
        </p:nvSpPr>
        <p:spPr/>
        <p:txBody>
          <a:bodyPr/>
          <a:lstStyle/>
          <a:p>
            <a:r>
              <a:rPr lang="en-US" dirty="0"/>
              <a:t>Temperature sweep for </a:t>
            </a:r>
            <a:r>
              <a:rPr lang="en-US" b="1" dirty="0"/>
              <a:t>n = 8</a:t>
            </a:r>
            <a:endParaRPr lang="en-US" dirty="0"/>
          </a:p>
        </p:txBody>
      </p:sp>
      <p:sp>
        <p:nvSpPr>
          <p:cNvPr id="3" name="Date Placeholder 2">
            <a:extLst>
              <a:ext uri="{FF2B5EF4-FFF2-40B4-BE49-F238E27FC236}">
                <a16:creationId xmlns:a16="http://schemas.microsoft.com/office/drawing/2014/main" id="{68C5B0CC-C4D8-BE92-C406-7E9D8F8038A3}"/>
              </a:ext>
            </a:extLst>
          </p:cNvPr>
          <p:cNvSpPr>
            <a:spLocks noGrp="1"/>
          </p:cNvSpPr>
          <p:nvPr>
            <p:ph type="dt" sz="half" idx="10"/>
          </p:nvPr>
        </p:nvSpPr>
        <p:spPr/>
        <p:txBody>
          <a:bodyPr/>
          <a:lstStyle/>
          <a:p>
            <a:fld id="{85742855-FC17-4523-944D-6C1C637FC0D6}" type="datetime1">
              <a:rPr lang="en-US" smtClean="0"/>
              <a:t>7/17/2024</a:t>
            </a:fld>
            <a:endParaRPr lang="en-US"/>
          </a:p>
        </p:txBody>
      </p:sp>
      <p:sp>
        <p:nvSpPr>
          <p:cNvPr id="4" name="Slide Number Placeholder 3">
            <a:extLst>
              <a:ext uri="{FF2B5EF4-FFF2-40B4-BE49-F238E27FC236}">
                <a16:creationId xmlns:a16="http://schemas.microsoft.com/office/drawing/2014/main" id="{DB4F6685-A5E9-D555-9F61-C5296B980F8C}"/>
              </a:ext>
            </a:extLst>
          </p:cNvPr>
          <p:cNvSpPr>
            <a:spLocks noGrp="1"/>
          </p:cNvSpPr>
          <p:nvPr>
            <p:ph type="sldNum" sz="quarter" idx="12"/>
          </p:nvPr>
        </p:nvSpPr>
        <p:spPr/>
        <p:txBody>
          <a:bodyPr/>
          <a:lstStyle/>
          <a:p>
            <a:fld id="{B1254B9F-6C8D-48FB-9BF4-CF6E84C56BB7}" type="slidenum">
              <a:rPr lang="en-US" smtClean="0"/>
              <a:t>16</a:t>
            </a:fld>
            <a:endParaRPr lang="en-US"/>
          </a:p>
        </p:txBody>
      </p:sp>
      <p:pic>
        <p:nvPicPr>
          <p:cNvPr id="5" name="Picture 4">
            <a:extLst>
              <a:ext uri="{FF2B5EF4-FFF2-40B4-BE49-F238E27FC236}">
                <a16:creationId xmlns:a16="http://schemas.microsoft.com/office/drawing/2014/main" id="{CDAF1E56-2EA4-F850-C4F0-AA9296BE3FBA}"/>
              </a:ext>
            </a:extLst>
          </p:cNvPr>
          <p:cNvPicPr>
            <a:picLocks noChangeAspect="1"/>
          </p:cNvPicPr>
          <p:nvPr/>
        </p:nvPicPr>
        <p:blipFill>
          <a:blip r:embed="rId2"/>
          <a:stretch>
            <a:fillRect/>
          </a:stretch>
        </p:blipFill>
        <p:spPr>
          <a:xfrm>
            <a:off x="3195627" y="1832203"/>
            <a:ext cx="5414973" cy="4186365"/>
          </a:xfrm>
          <a:prstGeom prst="rect">
            <a:avLst/>
          </a:prstGeom>
        </p:spPr>
      </p:pic>
    </p:spTree>
    <p:extLst>
      <p:ext uri="{BB962C8B-B14F-4D97-AF65-F5344CB8AC3E}">
        <p14:creationId xmlns:p14="http://schemas.microsoft.com/office/powerpoint/2010/main" val="3547568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D5207-E429-4DE8-3444-EE93085410EB}"/>
              </a:ext>
            </a:extLst>
          </p:cNvPr>
          <p:cNvSpPr>
            <a:spLocks noGrp="1"/>
          </p:cNvSpPr>
          <p:nvPr>
            <p:ph type="title"/>
          </p:nvPr>
        </p:nvSpPr>
        <p:spPr/>
        <p:txBody>
          <a:bodyPr/>
          <a:lstStyle/>
          <a:p>
            <a:r>
              <a:rPr lang="en-US" dirty="0"/>
              <a:t>Temperature sweeps for different </a:t>
            </a:r>
            <a:r>
              <a:rPr lang="en-US" b="1" dirty="0"/>
              <a:t>n</a:t>
            </a:r>
            <a:endParaRPr lang="en-US" dirty="0"/>
          </a:p>
        </p:txBody>
      </p:sp>
      <p:sp>
        <p:nvSpPr>
          <p:cNvPr id="3" name="Date Placeholder 2">
            <a:extLst>
              <a:ext uri="{FF2B5EF4-FFF2-40B4-BE49-F238E27FC236}">
                <a16:creationId xmlns:a16="http://schemas.microsoft.com/office/drawing/2014/main" id="{0D1CE8E0-BD03-2646-580A-7D75EE7475FB}"/>
              </a:ext>
            </a:extLst>
          </p:cNvPr>
          <p:cNvSpPr>
            <a:spLocks noGrp="1"/>
          </p:cNvSpPr>
          <p:nvPr>
            <p:ph type="dt" sz="half" idx="10"/>
          </p:nvPr>
        </p:nvSpPr>
        <p:spPr/>
        <p:txBody>
          <a:bodyPr/>
          <a:lstStyle/>
          <a:p>
            <a:fld id="{85742855-FC17-4523-944D-6C1C637FC0D6}" type="datetime1">
              <a:rPr lang="en-US" smtClean="0"/>
              <a:t>7/17/2024</a:t>
            </a:fld>
            <a:endParaRPr lang="en-US"/>
          </a:p>
        </p:txBody>
      </p:sp>
      <p:sp>
        <p:nvSpPr>
          <p:cNvPr id="4" name="Slide Number Placeholder 3">
            <a:extLst>
              <a:ext uri="{FF2B5EF4-FFF2-40B4-BE49-F238E27FC236}">
                <a16:creationId xmlns:a16="http://schemas.microsoft.com/office/drawing/2014/main" id="{5F15988D-629B-0785-A4D1-BD02534FC1EA}"/>
              </a:ext>
            </a:extLst>
          </p:cNvPr>
          <p:cNvSpPr>
            <a:spLocks noGrp="1"/>
          </p:cNvSpPr>
          <p:nvPr>
            <p:ph type="sldNum" sz="quarter" idx="12"/>
          </p:nvPr>
        </p:nvSpPr>
        <p:spPr/>
        <p:txBody>
          <a:bodyPr/>
          <a:lstStyle/>
          <a:p>
            <a:fld id="{B1254B9F-6C8D-48FB-9BF4-CF6E84C56BB7}" type="slidenum">
              <a:rPr lang="en-US" smtClean="0"/>
              <a:t>17</a:t>
            </a:fld>
            <a:endParaRPr lang="en-US"/>
          </a:p>
        </p:txBody>
      </p:sp>
      <p:pic>
        <p:nvPicPr>
          <p:cNvPr id="5" name="Picture 4">
            <a:extLst>
              <a:ext uri="{FF2B5EF4-FFF2-40B4-BE49-F238E27FC236}">
                <a16:creationId xmlns:a16="http://schemas.microsoft.com/office/drawing/2014/main" id="{565FEEA3-36BD-0FE4-EA41-100CF764FDD7}"/>
              </a:ext>
            </a:extLst>
          </p:cNvPr>
          <p:cNvPicPr>
            <a:picLocks noChangeAspect="1"/>
          </p:cNvPicPr>
          <p:nvPr/>
        </p:nvPicPr>
        <p:blipFill>
          <a:blip r:embed="rId2"/>
          <a:stretch>
            <a:fillRect/>
          </a:stretch>
        </p:blipFill>
        <p:spPr>
          <a:xfrm>
            <a:off x="1970330" y="1644148"/>
            <a:ext cx="2585069" cy="1998541"/>
          </a:xfrm>
          <a:prstGeom prst="rect">
            <a:avLst/>
          </a:prstGeom>
        </p:spPr>
      </p:pic>
      <p:pic>
        <p:nvPicPr>
          <p:cNvPr id="6" name="Picture 5">
            <a:extLst>
              <a:ext uri="{FF2B5EF4-FFF2-40B4-BE49-F238E27FC236}">
                <a16:creationId xmlns:a16="http://schemas.microsoft.com/office/drawing/2014/main" id="{2FD48BF4-7AB8-E0E9-593F-359C4A1717A9}"/>
              </a:ext>
            </a:extLst>
          </p:cNvPr>
          <p:cNvPicPr>
            <a:picLocks noChangeAspect="1"/>
          </p:cNvPicPr>
          <p:nvPr/>
        </p:nvPicPr>
        <p:blipFill>
          <a:blip r:embed="rId3"/>
          <a:stretch>
            <a:fillRect/>
          </a:stretch>
        </p:blipFill>
        <p:spPr>
          <a:xfrm>
            <a:off x="4991770" y="1643623"/>
            <a:ext cx="2585069" cy="1998541"/>
          </a:xfrm>
          <a:prstGeom prst="rect">
            <a:avLst/>
          </a:prstGeom>
        </p:spPr>
      </p:pic>
      <p:pic>
        <p:nvPicPr>
          <p:cNvPr id="7" name="Picture 6">
            <a:extLst>
              <a:ext uri="{FF2B5EF4-FFF2-40B4-BE49-F238E27FC236}">
                <a16:creationId xmlns:a16="http://schemas.microsoft.com/office/drawing/2014/main" id="{53E0DADD-1862-242B-700A-33794EBEEC01}"/>
              </a:ext>
            </a:extLst>
          </p:cNvPr>
          <p:cNvPicPr>
            <a:picLocks noChangeAspect="1"/>
          </p:cNvPicPr>
          <p:nvPr/>
        </p:nvPicPr>
        <p:blipFill>
          <a:blip r:embed="rId4"/>
          <a:stretch>
            <a:fillRect/>
          </a:stretch>
        </p:blipFill>
        <p:spPr>
          <a:xfrm>
            <a:off x="8013210" y="1690688"/>
            <a:ext cx="2585069" cy="1998541"/>
          </a:xfrm>
          <a:prstGeom prst="rect">
            <a:avLst/>
          </a:prstGeom>
        </p:spPr>
      </p:pic>
      <p:pic>
        <p:nvPicPr>
          <p:cNvPr id="8" name="Picture 7">
            <a:extLst>
              <a:ext uri="{FF2B5EF4-FFF2-40B4-BE49-F238E27FC236}">
                <a16:creationId xmlns:a16="http://schemas.microsoft.com/office/drawing/2014/main" id="{24C60EC5-F7C6-99BC-DE08-DF9755E35FD0}"/>
              </a:ext>
            </a:extLst>
          </p:cNvPr>
          <p:cNvPicPr>
            <a:picLocks noChangeAspect="1"/>
          </p:cNvPicPr>
          <p:nvPr/>
        </p:nvPicPr>
        <p:blipFill>
          <a:blip r:embed="rId5"/>
          <a:stretch>
            <a:fillRect/>
          </a:stretch>
        </p:blipFill>
        <p:spPr>
          <a:xfrm>
            <a:off x="1970330" y="4000249"/>
            <a:ext cx="2585069" cy="1998541"/>
          </a:xfrm>
          <a:prstGeom prst="rect">
            <a:avLst/>
          </a:prstGeom>
        </p:spPr>
      </p:pic>
      <p:pic>
        <p:nvPicPr>
          <p:cNvPr id="9" name="Picture 8">
            <a:extLst>
              <a:ext uri="{FF2B5EF4-FFF2-40B4-BE49-F238E27FC236}">
                <a16:creationId xmlns:a16="http://schemas.microsoft.com/office/drawing/2014/main" id="{69171CDE-6053-A9D2-2096-40F09003A6E6}"/>
              </a:ext>
            </a:extLst>
          </p:cNvPr>
          <p:cNvPicPr>
            <a:picLocks noChangeAspect="1"/>
          </p:cNvPicPr>
          <p:nvPr/>
        </p:nvPicPr>
        <p:blipFill>
          <a:blip r:embed="rId6"/>
          <a:stretch>
            <a:fillRect/>
          </a:stretch>
        </p:blipFill>
        <p:spPr>
          <a:xfrm>
            <a:off x="4991769" y="4006940"/>
            <a:ext cx="2585070" cy="1998541"/>
          </a:xfrm>
          <a:prstGeom prst="rect">
            <a:avLst/>
          </a:prstGeom>
        </p:spPr>
      </p:pic>
    </p:spTree>
    <p:extLst>
      <p:ext uri="{BB962C8B-B14F-4D97-AF65-F5344CB8AC3E}">
        <p14:creationId xmlns:p14="http://schemas.microsoft.com/office/powerpoint/2010/main" val="2786348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EFFF-F119-7398-7B3E-5DF84E297B72}"/>
              </a:ext>
            </a:extLst>
          </p:cNvPr>
          <p:cNvSpPr>
            <a:spLocks noGrp="1"/>
          </p:cNvSpPr>
          <p:nvPr>
            <p:ph type="title"/>
          </p:nvPr>
        </p:nvSpPr>
        <p:spPr/>
        <p:txBody>
          <a:bodyPr/>
          <a:lstStyle/>
          <a:p>
            <a:r>
              <a:rPr lang="en-US" dirty="0"/>
              <a:t>Energy spectrum of the linear schedule</a:t>
            </a:r>
            <a:endParaRPr lang="en-US" b="1" dirty="0"/>
          </a:p>
        </p:txBody>
      </p:sp>
      <p:sp>
        <p:nvSpPr>
          <p:cNvPr id="3" name="Date Placeholder 2">
            <a:extLst>
              <a:ext uri="{FF2B5EF4-FFF2-40B4-BE49-F238E27FC236}">
                <a16:creationId xmlns:a16="http://schemas.microsoft.com/office/drawing/2014/main" id="{BFED59A7-F6B4-D12A-C497-04C5F37A583F}"/>
              </a:ext>
            </a:extLst>
          </p:cNvPr>
          <p:cNvSpPr>
            <a:spLocks noGrp="1"/>
          </p:cNvSpPr>
          <p:nvPr>
            <p:ph type="dt" sz="half" idx="10"/>
          </p:nvPr>
        </p:nvSpPr>
        <p:spPr/>
        <p:txBody>
          <a:bodyPr/>
          <a:lstStyle/>
          <a:p>
            <a:fld id="{85742855-FC17-4523-944D-6C1C637FC0D6}" type="datetime1">
              <a:rPr lang="en-US" smtClean="0"/>
              <a:t>7/17/2024</a:t>
            </a:fld>
            <a:endParaRPr lang="en-US"/>
          </a:p>
        </p:txBody>
      </p:sp>
      <p:sp>
        <p:nvSpPr>
          <p:cNvPr id="4" name="Slide Number Placeholder 3">
            <a:extLst>
              <a:ext uri="{FF2B5EF4-FFF2-40B4-BE49-F238E27FC236}">
                <a16:creationId xmlns:a16="http://schemas.microsoft.com/office/drawing/2014/main" id="{70961CBE-A8B1-1E6B-DD27-4A90ED4314F2}"/>
              </a:ext>
            </a:extLst>
          </p:cNvPr>
          <p:cNvSpPr>
            <a:spLocks noGrp="1"/>
          </p:cNvSpPr>
          <p:nvPr>
            <p:ph type="sldNum" sz="quarter" idx="12"/>
          </p:nvPr>
        </p:nvSpPr>
        <p:spPr/>
        <p:txBody>
          <a:bodyPr/>
          <a:lstStyle/>
          <a:p>
            <a:fld id="{B1254B9F-6C8D-48FB-9BF4-CF6E84C56BB7}" type="slidenum">
              <a:rPr lang="en-US" smtClean="0"/>
              <a:t>18</a:t>
            </a:fld>
            <a:endParaRPr lang="en-US"/>
          </a:p>
        </p:txBody>
      </p:sp>
      <p:pic>
        <p:nvPicPr>
          <p:cNvPr id="5" name="Picture 4">
            <a:extLst>
              <a:ext uri="{FF2B5EF4-FFF2-40B4-BE49-F238E27FC236}">
                <a16:creationId xmlns:a16="http://schemas.microsoft.com/office/drawing/2014/main" id="{A6A4DAC2-6AAE-5015-EA56-E342FB7FAA1F}"/>
              </a:ext>
            </a:extLst>
          </p:cNvPr>
          <p:cNvPicPr>
            <a:picLocks noChangeAspect="1"/>
          </p:cNvPicPr>
          <p:nvPr/>
        </p:nvPicPr>
        <p:blipFill>
          <a:blip r:embed="rId2"/>
          <a:stretch>
            <a:fillRect/>
          </a:stretch>
        </p:blipFill>
        <p:spPr>
          <a:xfrm>
            <a:off x="1648516" y="2285343"/>
            <a:ext cx="8894968" cy="3306877"/>
          </a:xfrm>
          <a:prstGeom prst="rect">
            <a:avLst/>
          </a:prstGeom>
        </p:spPr>
      </p:pic>
    </p:spTree>
    <p:extLst>
      <p:ext uri="{BB962C8B-B14F-4D97-AF65-F5344CB8AC3E}">
        <p14:creationId xmlns:p14="http://schemas.microsoft.com/office/powerpoint/2010/main" val="2065450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68411-72B5-40C4-4566-0848F5005705}"/>
              </a:ext>
            </a:extLst>
          </p:cNvPr>
          <p:cNvSpPr>
            <a:spLocks noGrp="1"/>
          </p:cNvSpPr>
          <p:nvPr>
            <p:ph type="title"/>
          </p:nvPr>
        </p:nvSpPr>
        <p:spPr/>
        <p:txBody>
          <a:bodyPr/>
          <a:lstStyle/>
          <a:p>
            <a:r>
              <a:rPr lang="en-US" dirty="0"/>
              <a:t>Energy spectrum of reverse annealing</a:t>
            </a:r>
          </a:p>
        </p:txBody>
      </p:sp>
      <p:sp>
        <p:nvSpPr>
          <p:cNvPr id="3" name="Date Placeholder 2">
            <a:extLst>
              <a:ext uri="{FF2B5EF4-FFF2-40B4-BE49-F238E27FC236}">
                <a16:creationId xmlns:a16="http://schemas.microsoft.com/office/drawing/2014/main" id="{02799E4C-95CE-0748-D536-96F65D22E94B}"/>
              </a:ext>
            </a:extLst>
          </p:cNvPr>
          <p:cNvSpPr>
            <a:spLocks noGrp="1"/>
          </p:cNvSpPr>
          <p:nvPr>
            <p:ph type="dt" sz="half" idx="10"/>
          </p:nvPr>
        </p:nvSpPr>
        <p:spPr/>
        <p:txBody>
          <a:bodyPr/>
          <a:lstStyle/>
          <a:p>
            <a:fld id="{85742855-FC17-4523-944D-6C1C637FC0D6}" type="datetime1">
              <a:rPr lang="en-US" smtClean="0"/>
              <a:t>7/17/2024</a:t>
            </a:fld>
            <a:endParaRPr lang="en-US"/>
          </a:p>
        </p:txBody>
      </p:sp>
      <p:sp>
        <p:nvSpPr>
          <p:cNvPr id="4" name="Slide Number Placeholder 3">
            <a:extLst>
              <a:ext uri="{FF2B5EF4-FFF2-40B4-BE49-F238E27FC236}">
                <a16:creationId xmlns:a16="http://schemas.microsoft.com/office/drawing/2014/main" id="{79E7D11C-18ED-5BFC-0657-8E9F9AA2376B}"/>
              </a:ext>
            </a:extLst>
          </p:cNvPr>
          <p:cNvSpPr>
            <a:spLocks noGrp="1"/>
          </p:cNvSpPr>
          <p:nvPr>
            <p:ph type="sldNum" sz="quarter" idx="12"/>
          </p:nvPr>
        </p:nvSpPr>
        <p:spPr/>
        <p:txBody>
          <a:bodyPr/>
          <a:lstStyle/>
          <a:p>
            <a:fld id="{B1254B9F-6C8D-48FB-9BF4-CF6E84C56BB7}" type="slidenum">
              <a:rPr lang="en-US" smtClean="0"/>
              <a:t>19</a:t>
            </a:fld>
            <a:endParaRPr lang="en-US"/>
          </a:p>
        </p:txBody>
      </p:sp>
      <p:pic>
        <p:nvPicPr>
          <p:cNvPr id="5" name="Picture 4">
            <a:extLst>
              <a:ext uri="{FF2B5EF4-FFF2-40B4-BE49-F238E27FC236}">
                <a16:creationId xmlns:a16="http://schemas.microsoft.com/office/drawing/2014/main" id="{05A64D45-9676-11C8-DEF2-0513BBE453C8}"/>
              </a:ext>
            </a:extLst>
          </p:cNvPr>
          <p:cNvPicPr>
            <a:picLocks noChangeAspect="1"/>
          </p:cNvPicPr>
          <p:nvPr/>
        </p:nvPicPr>
        <p:blipFill>
          <a:blip r:embed="rId2"/>
          <a:stretch>
            <a:fillRect/>
          </a:stretch>
        </p:blipFill>
        <p:spPr>
          <a:xfrm>
            <a:off x="1217840" y="2147479"/>
            <a:ext cx="9582150" cy="3562350"/>
          </a:xfrm>
          <a:prstGeom prst="rect">
            <a:avLst/>
          </a:prstGeom>
        </p:spPr>
      </p:pic>
    </p:spTree>
    <p:extLst>
      <p:ext uri="{BB962C8B-B14F-4D97-AF65-F5344CB8AC3E}">
        <p14:creationId xmlns:p14="http://schemas.microsoft.com/office/powerpoint/2010/main" val="138744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33E6C23B-4A62-7BA7-65D0-35DD7423AFF1}"/>
              </a:ext>
            </a:extLst>
          </p:cNvPr>
          <p:cNvPicPr>
            <a:picLocks noChangeAspect="1"/>
          </p:cNvPicPr>
          <p:nvPr/>
        </p:nvPicPr>
        <p:blipFill rotWithShape="1">
          <a:blip r:embed="rId2"/>
          <a:srcRect r="3832"/>
          <a:stretch/>
        </p:blipFill>
        <p:spPr>
          <a:xfrm>
            <a:off x="785517" y="2587719"/>
            <a:ext cx="6556455" cy="2632087"/>
          </a:xfrm>
          <a:prstGeom prst="rect">
            <a:avLst/>
          </a:prstGeom>
        </p:spPr>
      </p:pic>
      <p:sp>
        <p:nvSpPr>
          <p:cNvPr id="2" name="Title 1">
            <a:extLst>
              <a:ext uri="{FF2B5EF4-FFF2-40B4-BE49-F238E27FC236}">
                <a16:creationId xmlns:a16="http://schemas.microsoft.com/office/drawing/2014/main" id="{365EBA8F-5B8E-F6E3-FB6C-175461B5CA54}"/>
              </a:ext>
            </a:extLst>
          </p:cNvPr>
          <p:cNvSpPr>
            <a:spLocks noGrp="1"/>
          </p:cNvSpPr>
          <p:nvPr>
            <p:ph type="title"/>
          </p:nvPr>
        </p:nvSpPr>
        <p:spPr/>
        <p:txBody>
          <a:bodyPr/>
          <a:lstStyle/>
          <a:p>
            <a:r>
              <a:rPr lang="en-US" dirty="0"/>
              <a:t>Bottleneck analysis</a:t>
            </a:r>
          </a:p>
        </p:txBody>
      </p:sp>
      <p:sp>
        <p:nvSpPr>
          <p:cNvPr id="3" name="Date Placeholder 2">
            <a:extLst>
              <a:ext uri="{FF2B5EF4-FFF2-40B4-BE49-F238E27FC236}">
                <a16:creationId xmlns:a16="http://schemas.microsoft.com/office/drawing/2014/main" id="{72A137C7-FA97-0F29-7E57-BB09F63B24B8}"/>
              </a:ext>
            </a:extLst>
          </p:cNvPr>
          <p:cNvSpPr>
            <a:spLocks noGrp="1"/>
          </p:cNvSpPr>
          <p:nvPr>
            <p:ph type="dt" sz="half" idx="10"/>
          </p:nvPr>
        </p:nvSpPr>
        <p:spPr/>
        <p:txBody>
          <a:bodyPr/>
          <a:lstStyle/>
          <a:p>
            <a:fld id="{85742855-FC17-4523-944D-6C1C637FC0D6}" type="datetime1">
              <a:rPr lang="en-US" smtClean="0"/>
              <a:t>7/17/2024</a:t>
            </a:fld>
            <a:endParaRPr lang="en-US"/>
          </a:p>
        </p:txBody>
      </p:sp>
      <p:sp>
        <p:nvSpPr>
          <p:cNvPr id="4" name="Slide Number Placeholder 3">
            <a:extLst>
              <a:ext uri="{FF2B5EF4-FFF2-40B4-BE49-F238E27FC236}">
                <a16:creationId xmlns:a16="http://schemas.microsoft.com/office/drawing/2014/main" id="{44706A7D-EE26-E051-CE88-1BE78B25DB26}"/>
              </a:ext>
            </a:extLst>
          </p:cNvPr>
          <p:cNvSpPr>
            <a:spLocks noGrp="1"/>
          </p:cNvSpPr>
          <p:nvPr>
            <p:ph type="sldNum" sz="quarter" idx="12"/>
          </p:nvPr>
        </p:nvSpPr>
        <p:spPr/>
        <p:txBody>
          <a:bodyPr/>
          <a:lstStyle/>
          <a:p>
            <a:fld id="{B1254B9F-6C8D-48FB-9BF4-CF6E84C56BB7}" type="slidenum">
              <a:rPr lang="en-US" smtClean="0"/>
              <a:t>20</a:t>
            </a:fld>
            <a:endParaRPr lang="en-US"/>
          </a:p>
        </p:txBody>
      </p:sp>
      <p:sp>
        <p:nvSpPr>
          <p:cNvPr id="13" name="Oval 12">
            <a:extLst>
              <a:ext uri="{FF2B5EF4-FFF2-40B4-BE49-F238E27FC236}">
                <a16:creationId xmlns:a16="http://schemas.microsoft.com/office/drawing/2014/main" id="{B55B0C70-A0EE-3ED1-AF6D-77662C752712}"/>
              </a:ext>
            </a:extLst>
          </p:cNvPr>
          <p:cNvSpPr/>
          <p:nvPr/>
        </p:nvSpPr>
        <p:spPr>
          <a:xfrm>
            <a:off x="8305324" y="2885795"/>
            <a:ext cx="1938183" cy="1869440"/>
          </a:xfrm>
          <a:prstGeom prst="ellipse">
            <a:avLst/>
          </a:prstGeom>
          <a:solidFill>
            <a:schemeClr val="bg1"/>
          </a:solidFill>
          <a:ln w="381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D609C6C3-8A7C-2C2C-B880-8B091BC32DD2}"/>
              </a:ext>
            </a:extLst>
          </p:cNvPr>
          <p:cNvSpPr/>
          <p:nvPr/>
        </p:nvSpPr>
        <p:spPr>
          <a:xfrm>
            <a:off x="8563204" y="3658340"/>
            <a:ext cx="492935" cy="479312"/>
          </a:xfrm>
          <a:prstGeom prst="ellipse">
            <a:avLst/>
          </a:prstGeom>
          <a:solidFill>
            <a:schemeClr val="accent1">
              <a:lumMod val="90000"/>
            </a:schemeClr>
          </a:solid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FC82298-A03B-CC18-53CF-6394044ED211}"/>
              </a:ext>
            </a:extLst>
          </p:cNvPr>
          <p:cNvSpPr/>
          <p:nvPr/>
        </p:nvSpPr>
        <p:spPr>
          <a:xfrm>
            <a:off x="9170849" y="3179028"/>
            <a:ext cx="492935" cy="479312"/>
          </a:xfrm>
          <a:prstGeom prst="ellipse">
            <a:avLst/>
          </a:prstGeom>
          <a:solidFill>
            <a:schemeClr val="accent1">
              <a:lumMod val="90000"/>
            </a:schemeClr>
          </a:solid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D9C84DE-99DE-A12B-AD3A-0CE3FB561D71}"/>
              </a:ext>
            </a:extLst>
          </p:cNvPr>
          <p:cNvSpPr/>
          <p:nvPr/>
        </p:nvSpPr>
        <p:spPr>
          <a:xfrm>
            <a:off x="9332185" y="3897996"/>
            <a:ext cx="492935" cy="479312"/>
          </a:xfrm>
          <a:prstGeom prst="ellipse">
            <a:avLst/>
          </a:prstGeom>
          <a:solidFill>
            <a:schemeClr val="accent1">
              <a:lumMod val="90000"/>
            </a:schemeClr>
          </a:solid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D5B5919-7FC5-127D-A1AE-22026E2BD5D3}"/>
              </a:ext>
            </a:extLst>
          </p:cNvPr>
          <p:cNvSpPr/>
          <p:nvPr/>
        </p:nvSpPr>
        <p:spPr>
          <a:xfrm>
            <a:off x="7191604" y="1807768"/>
            <a:ext cx="492935" cy="479312"/>
          </a:xfrm>
          <a:prstGeom prst="ellipse">
            <a:avLst/>
          </a:prstGeom>
          <a:solidFill>
            <a:schemeClr val="accent2">
              <a:lumMod val="40000"/>
              <a:lumOff val="60000"/>
            </a:schemeClr>
          </a:solidFill>
          <a:ln w="381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3DFA385-928B-584B-1FE3-125430042478}"/>
              </a:ext>
            </a:extLst>
          </p:cNvPr>
          <p:cNvSpPr/>
          <p:nvPr/>
        </p:nvSpPr>
        <p:spPr>
          <a:xfrm>
            <a:off x="7134383" y="3683462"/>
            <a:ext cx="492935" cy="479312"/>
          </a:xfrm>
          <a:prstGeom prst="ellipse">
            <a:avLst/>
          </a:prstGeom>
          <a:solidFill>
            <a:schemeClr val="accent2">
              <a:lumMod val="40000"/>
              <a:lumOff val="60000"/>
            </a:schemeClr>
          </a:solidFill>
          <a:ln w="381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73E7DF9-BF5F-F24D-D9CA-2C183B69D05C}"/>
              </a:ext>
            </a:extLst>
          </p:cNvPr>
          <p:cNvSpPr/>
          <p:nvPr/>
        </p:nvSpPr>
        <p:spPr>
          <a:xfrm>
            <a:off x="10243507" y="1655369"/>
            <a:ext cx="492935" cy="479312"/>
          </a:xfrm>
          <a:prstGeom prst="ellipse">
            <a:avLst/>
          </a:prstGeom>
          <a:solidFill>
            <a:schemeClr val="accent2">
              <a:lumMod val="40000"/>
              <a:lumOff val="60000"/>
            </a:schemeClr>
          </a:solidFill>
          <a:ln w="381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96C3A4C-74F8-FD85-E13E-DFEDB72DE78F}"/>
              </a:ext>
            </a:extLst>
          </p:cNvPr>
          <p:cNvSpPr/>
          <p:nvPr/>
        </p:nvSpPr>
        <p:spPr>
          <a:xfrm>
            <a:off x="9750572" y="5389169"/>
            <a:ext cx="492935" cy="479312"/>
          </a:xfrm>
          <a:prstGeom prst="ellipse">
            <a:avLst/>
          </a:prstGeom>
          <a:solidFill>
            <a:schemeClr val="accent2">
              <a:lumMod val="40000"/>
              <a:lumOff val="60000"/>
            </a:schemeClr>
          </a:solidFill>
          <a:ln w="381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FBDB2E4-F9BA-626F-5BE6-03DD6AC86379}"/>
              </a:ext>
            </a:extLst>
          </p:cNvPr>
          <p:cNvSpPr/>
          <p:nvPr/>
        </p:nvSpPr>
        <p:spPr>
          <a:xfrm>
            <a:off x="11095033" y="3690997"/>
            <a:ext cx="492935" cy="479312"/>
          </a:xfrm>
          <a:prstGeom prst="ellipse">
            <a:avLst/>
          </a:prstGeom>
          <a:solidFill>
            <a:schemeClr val="accent2">
              <a:lumMod val="40000"/>
              <a:lumOff val="60000"/>
            </a:schemeClr>
          </a:solidFill>
          <a:ln w="381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CB22BBE-5B93-91A8-7149-158C40521BCA}"/>
              </a:ext>
            </a:extLst>
          </p:cNvPr>
          <p:cNvSpPr/>
          <p:nvPr/>
        </p:nvSpPr>
        <p:spPr>
          <a:xfrm>
            <a:off x="8717555" y="2134681"/>
            <a:ext cx="492935" cy="479312"/>
          </a:xfrm>
          <a:prstGeom prst="ellipse">
            <a:avLst/>
          </a:prstGeom>
          <a:solidFill>
            <a:schemeClr val="accent2">
              <a:lumMod val="40000"/>
              <a:lumOff val="60000"/>
            </a:schemeClr>
          </a:solidFill>
          <a:ln w="381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C12EE1C2-3EDF-990F-B6B5-2AF31382182F}"/>
              </a:ext>
            </a:extLst>
          </p:cNvPr>
          <p:cNvCxnSpPr>
            <a:cxnSpLocks/>
            <a:stCxn id="8" idx="5"/>
          </p:cNvCxnSpPr>
          <p:nvPr/>
        </p:nvCxnSpPr>
        <p:spPr>
          <a:xfrm>
            <a:off x="7612350" y="2216886"/>
            <a:ext cx="907123" cy="984594"/>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16" name="Straight Connector 15">
            <a:extLst>
              <a:ext uri="{FF2B5EF4-FFF2-40B4-BE49-F238E27FC236}">
                <a16:creationId xmlns:a16="http://schemas.microsoft.com/office/drawing/2014/main" id="{017D063B-7E0B-0F53-4808-37E1CC96DAE4}"/>
              </a:ext>
            </a:extLst>
          </p:cNvPr>
          <p:cNvCxnSpPr>
            <a:cxnSpLocks/>
            <a:endCxn id="13" idx="2"/>
          </p:cNvCxnSpPr>
          <p:nvPr/>
        </p:nvCxnSpPr>
        <p:spPr>
          <a:xfrm flipV="1">
            <a:off x="7658144" y="3820515"/>
            <a:ext cx="647180" cy="25484"/>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21" name="Straight Connector 20">
            <a:extLst>
              <a:ext uri="{FF2B5EF4-FFF2-40B4-BE49-F238E27FC236}">
                <a16:creationId xmlns:a16="http://schemas.microsoft.com/office/drawing/2014/main" id="{2C7F1BD0-9D56-6566-AB96-64D46C7FC558}"/>
              </a:ext>
            </a:extLst>
          </p:cNvPr>
          <p:cNvCxnSpPr>
            <a:cxnSpLocks/>
            <a:stCxn id="14" idx="4"/>
          </p:cNvCxnSpPr>
          <p:nvPr/>
        </p:nvCxnSpPr>
        <p:spPr>
          <a:xfrm>
            <a:off x="8964023" y="2613993"/>
            <a:ext cx="43130" cy="320062"/>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29" name="Straight Connector 28">
            <a:extLst>
              <a:ext uri="{FF2B5EF4-FFF2-40B4-BE49-F238E27FC236}">
                <a16:creationId xmlns:a16="http://schemas.microsoft.com/office/drawing/2014/main" id="{08290D31-28D8-3CAD-7403-D8A3D9BD0D51}"/>
              </a:ext>
            </a:extLst>
          </p:cNvPr>
          <p:cNvCxnSpPr>
            <a:cxnSpLocks/>
          </p:cNvCxnSpPr>
          <p:nvPr/>
        </p:nvCxnSpPr>
        <p:spPr>
          <a:xfrm flipH="1">
            <a:off x="9878373" y="2134681"/>
            <a:ext cx="492935" cy="906076"/>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34" name="Straight Connector 33">
            <a:extLst>
              <a:ext uri="{FF2B5EF4-FFF2-40B4-BE49-F238E27FC236}">
                <a16:creationId xmlns:a16="http://schemas.microsoft.com/office/drawing/2014/main" id="{A2E69605-205D-29EC-C5C6-1BBF8326E13C}"/>
              </a:ext>
            </a:extLst>
          </p:cNvPr>
          <p:cNvCxnSpPr>
            <a:cxnSpLocks/>
          </p:cNvCxnSpPr>
          <p:nvPr/>
        </p:nvCxnSpPr>
        <p:spPr>
          <a:xfrm>
            <a:off x="9578652" y="4712034"/>
            <a:ext cx="299721" cy="677135"/>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39" name="Straight Connector 38">
            <a:extLst>
              <a:ext uri="{FF2B5EF4-FFF2-40B4-BE49-F238E27FC236}">
                <a16:creationId xmlns:a16="http://schemas.microsoft.com/office/drawing/2014/main" id="{7D26191E-4425-0E1B-147B-5D61430FFB66}"/>
              </a:ext>
            </a:extLst>
          </p:cNvPr>
          <p:cNvCxnSpPr>
            <a:cxnSpLocks/>
            <a:stCxn id="12" idx="2"/>
            <a:endCxn id="13" idx="6"/>
          </p:cNvCxnSpPr>
          <p:nvPr/>
        </p:nvCxnSpPr>
        <p:spPr>
          <a:xfrm flipH="1" flipV="1">
            <a:off x="10243507" y="3820515"/>
            <a:ext cx="851526" cy="110138"/>
          </a:xfrm>
          <a:prstGeom prst="line">
            <a:avLst/>
          </a:prstGeom>
          <a:ln w="38100"/>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38120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613F8F-E7E2-7F86-1FBA-6106A4D1B6DA}"/>
              </a:ext>
            </a:extLst>
          </p:cNvPr>
          <p:cNvSpPr>
            <a:spLocks noGrp="1"/>
          </p:cNvSpPr>
          <p:nvPr>
            <p:ph type="dt" sz="half" idx="10"/>
          </p:nvPr>
        </p:nvSpPr>
        <p:spPr/>
        <p:txBody>
          <a:bodyPr/>
          <a:lstStyle/>
          <a:p>
            <a:fld id="{9F889EA6-A423-41B2-9FB9-A99FAC8B4556}" type="datetime1">
              <a:rPr lang="en-US" smtClean="0"/>
              <a:t>7/17/2024</a:t>
            </a:fld>
            <a:endParaRPr lang="en-US"/>
          </a:p>
        </p:txBody>
      </p:sp>
      <p:sp>
        <p:nvSpPr>
          <p:cNvPr id="3" name="Slide Number Placeholder 2">
            <a:extLst>
              <a:ext uri="{FF2B5EF4-FFF2-40B4-BE49-F238E27FC236}">
                <a16:creationId xmlns:a16="http://schemas.microsoft.com/office/drawing/2014/main" id="{285C0C5E-3970-FDB8-3121-153B76855E52}"/>
              </a:ext>
            </a:extLst>
          </p:cNvPr>
          <p:cNvSpPr>
            <a:spLocks noGrp="1"/>
          </p:cNvSpPr>
          <p:nvPr>
            <p:ph type="sldNum" sz="quarter" idx="12"/>
          </p:nvPr>
        </p:nvSpPr>
        <p:spPr/>
        <p:txBody>
          <a:bodyPr/>
          <a:lstStyle/>
          <a:p>
            <a:fld id="{B1254B9F-6C8D-48FB-9BF4-CF6E84C56BB7}" type="slidenum">
              <a:rPr lang="en-US" smtClean="0"/>
              <a:t>21</a:t>
            </a:fld>
            <a:endParaRPr lang="en-US"/>
          </a:p>
        </p:txBody>
      </p:sp>
      <p:pic>
        <p:nvPicPr>
          <p:cNvPr id="7" name="Picture 6">
            <a:extLst>
              <a:ext uri="{FF2B5EF4-FFF2-40B4-BE49-F238E27FC236}">
                <a16:creationId xmlns:a16="http://schemas.microsoft.com/office/drawing/2014/main" id="{C5B1F787-7F62-4AE8-0FE4-C13AE1C16BED}"/>
              </a:ext>
            </a:extLst>
          </p:cNvPr>
          <p:cNvPicPr>
            <a:picLocks noChangeAspect="1"/>
          </p:cNvPicPr>
          <p:nvPr/>
        </p:nvPicPr>
        <p:blipFill>
          <a:blip r:embed="rId2"/>
          <a:stretch>
            <a:fillRect/>
          </a:stretch>
        </p:blipFill>
        <p:spPr>
          <a:xfrm>
            <a:off x="1384629" y="1421937"/>
            <a:ext cx="7964331" cy="4014125"/>
          </a:xfrm>
          <a:prstGeom prst="rect">
            <a:avLst/>
          </a:prstGeom>
        </p:spPr>
      </p:pic>
    </p:spTree>
    <p:extLst>
      <p:ext uri="{BB962C8B-B14F-4D97-AF65-F5344CB8AC3E}">
        <p14:creationId xmlns:p14="http://schemas.microsoft.com/office/powerpoint/2010/main" val="3618952232"/>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1489</TotalTime>
  <Words>2502</Words>
  <Application>Microsoft Office PowerPoint</Application>
  <PresentationFormat>Widescreen</PresentationFormat>
  <Paragraphs>144</Paragraphs>
  <Slides>21</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Google Sans</vt:lpstr>
      <vt:lpstr>Times New Roman</vt:lpstr>
      <vt:lpstr>Office Theme</vt:lpstr>
      <vt:lpstr>PowerPoint Presentation</vt:lpstr>
      <vt:lpstr>Talk outline</vt:lpstr>
      <vt:lpstr>Sampling</vt:lpstr>
      <vt:lpstr>MCMC Basics</vt:lpstr>
      <vt:lpstr>Quantum proposal</vt:lpstr>
      <vt:lpstr>Parameter grid search</vt:lpstr>
      <vt:lpstr>Locating critical γ value</vt:lpstr>
      <vt:lpstr>Fixed near-critical γ </vt:lpstr>
      <vt:lpstr>Classically optimized schedules</vt:lpstr>
      <vt:lpstr>Performance of optimized schedules</vt:lpstr>
      <vt:lpstr>Big picture</vt:lpstr>
      <vt:lpstr>Open question</vt:lpstr>
      <vt:lpstr>Backup slides</vt:lpstr>
      <vt:lpstr>Phase diagrams for different n</vt:lpstr>
      <vt:lpstr>Parameter landscape for different n</vt:lpstr>
      <vt:lpstr>Temperature sweep for n = 8</vt:lpstr>
      <vt:lpstr>Temperature sweeps for different n</vt:lpstr>
      <vt:lpstr>Energy spectrum of the linear schedule</vt:lpstr>
      <vt:lpstr>Energy spectrum of reverse annealing</vt:lpstr>
      <vt:lpstr>Bottleneck analysis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Petr Ivashkov</dc:creator>
  <cp:lastModifiedBy>Petr Ivashkov</cp:lastModifiedBy>
  <cp:revision>166</cp:revision>
  <dcterms:created xsi:type="dcterms:W3CDTF">2024-07-16T11:42:29Z</dcterms:created>
  <dcterms:modified xsi:type="dcterms:W3CDTF">2024-07-17T12:32:18Z</dcterms:modified>
</cp:coreProperties>
</file>